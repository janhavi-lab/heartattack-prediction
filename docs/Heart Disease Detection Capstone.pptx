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72" r:id="rId15"/>
    <p:sldId id="273" r:id="rId16"/>
    <p:sldId id="268" r:id="rId17"/>
    <p:sldId id="269"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2"/>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jpe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tretch>
            <a:fillRect/>
          </a:stretch>
        </p:blipFill>
        <p:spPr>
          <a:xfrm>
            <a:off x="1742182" y="3468052"/>
            <a:ext cx="8707635" cy="2195195"/>
          </a:xfrm>
          <a:prstGeom prst="rect">
            <a:avLst/>
          </a:prstGeom>
        </p:spPr>
      </p:pic>
      <p:sp>
        <p:nvSpPr>
          <p:cNvPr id="4" name="TextBox 3"/>
          <p:cNvSpPr txBox="1"/>
          <p:nvPr/>
        </p:nvSpPr>
        <p:spPr>
          <a:xfrm>
            <a:off x="5272236" y="3465512"/>
            <a:ext cx="1647527" cy="307777"/>
          </a:xfrm>
          <a:prstGeom prst="rect">
            <a:avLst/>
          </a:prstGeom>
          <a:noFill/>
        </p:spPr>
        <p:txBody>
          <a:bodyPr wrap="square" lIns="0" tIns="0" rIns="0" bIns="0" anchor="t">
            <a:spAutoFit/>
          </a:bodyPr>
          <a:lstStyle/>
          <a:p>
            <a:pPr algn="ctr"/>
            <a:r>
              <a:rPr sz="2000" b="1" i="0" u="none">
                <a:solidFill>
                  <a:srgbClr val="002060"/>
                </a:solidFill>
                <a:latin typeface="Calibri" panose="020F0502020204030204"/>
              </a:rPr>
              <a:t>Team Members</a:t>
            </a:r>
            <a:endParaRPr sz="2000" b="1" i="0" u="none">
              <a:solidFill>
                <a:srgbClr val="002060"/>
              </a:solidFill>
              <a:latin typeface="Calibri" panose="020F0502020204030204"/>
            </a:endParaRPr>
          </a:p>
        </p:txBody>
      </p:sp>
      <p:sp>
        <p:nvSpPr>
          <p:cNvPr id="5" name="TextBox 4"/>
          <p:cNvSpPr txBox="1"/>
          <p:nvPr/>
        </p:nvSpPr>
        <p:spPr>
          <a:xfrm>
            <a:off x="1932682" y="4129087"/>
            <a:ext cx="3972817" cy="276999"/>
          </a:xfrm>
          <a:prstGeom prst="rect">
            <a:avLst/>
          </a:prstGeom>
          <a:noFill/>
        </p:spPr>
        <p:txBody>
          <a:bodyPr wrap="square" lIns="0" tIns="0" rIns="0" bIns="0" anchor="t">
            <a:spAutoFit/>
          </a:bodyPr>
          <a:lstStyle/>
          <a:p>
            <a:pPr algn="l"/>
            <a:r>
              <a:rPr b="0" i="0" u="none">
                <a:solidFill>
                  <a:srgbClr val="002060"/>
                </a:solidFill>
                <a:latin typeface="Times New Roman" panose="02020603050405020304"/>
                <a:cs typeface="Times New Roman" panose="02020603050405020304"/>
              </a:rPr>
              <a:t>T170800208: Kiran Satish Belsare</a:t>
            </a:r>
            <a:endParaRPr lang="en-US" b="0" i="0" u="none">
              <a:solidFill>
                <a:srgbClr val="002060"/>
              </a:solidFill>
              <a:latin typeface="Times New Roman" panose="02020603050405020304"/>
              <a:ea typeface="Calibri" panose="020F0502020204030204"/>
              <a:cs typeface="Times New Roman" panose="02020603050405020304"/>
            </a:endParaRPr>
          </a:p>
        </p:txBody>
      </p:sp>
      <p:sp>
        <p:nvSpPr>
          <p:cNvPr id="6" name="TextBox 5"/>
          <p:cNvSpPr txBox="1"/>
          <p:nvPr/>
        </p:nvSpPr>
        <p:spPr>
          <a:xfrm>
            <a:off x="6286500" y="4129087"/>
            <a:ext cx="3972817" cy="276999"/>
          </a:xfrm>
          <a:prstGeom prst="rect">
            <a:avLst/>
          </a:prstGeom>
          <a:noFill/>
        </p:spPr>
        <p:txBody>
          <a:bodyPr wrap="square" lIns="0" tIns="0" rIns="0" bIns="0" anchor="t">
            <a:spAutoFit/>
          </a:bodyPr>
          <a:lstStyle/>
          <a:p>
            <a:pPr algn="l"/>
            <a:r>
              <a:rPr b="0" i="0" u="none">
                <a:solidFill>
                  <a:srgbClr val="002060"/>
                </a:solidFill>
                <a:latin typeface="Times New Roman" panose="02020603050405020304"/>
                <a:cs typeface="Times New Roman" panose="02020603050405020304"/>
              </a:rPr>
              <a:t>T170800231: Sakshi Shivaji Kanade</a:t>
            </a:r>
            <a:endParaRPr lang="en-US" b="0" i="0" u="none">
              <a:solidFill>
                <a:srgbClr val="002060"/>
              </a:solidFill>
              <a:latin typeface="Times New Roman" panose="02020603050405020304"/>
              <a:cs typeface="Times New Roman" panose="02020603050405020304"/>
            </a:endParaRPr>
          </a:p>
        </p:txBody>
      </p:sp>
      <p:sp>
        <p:nvSpPr>
          <p:cNvPr id="7" name="TextBox 6"/>
          <p:cNvSpPr txBox="1"/>
          <p:nvPr/>
        </p:nvSpPr>
        <p:spPr>
          <a:xfrm>
            <a:off x="1932682" y="4519612"/>
            <a:ext cx="3972817" cy="276999"/>
          </a:xfrm>
          <a:prstGeom prst="rect">
            <a:avLst/>
          </a:prstGeom>
          <a:noFill/>
        </p:spPr>
        <p:txBody>
          <a:bodyPr wrap="square" lIns="0" tIns="0" rIns="0" bIns="0" anchor="t">
            <a:spAutoFit/>
          </a:bodyPr>
          <a:lstStyle/>
          <a:p>
            <a:pPr algn="l"/>
            <a:r>
              <a:rPr b="0" i="0" u="none" dirty="0">
                <a:solidFill>
                  <a:srgbClr val="002060"/>
                </a:solidFill>
                <a:latin typeface="Times New Roman" panose="02020603050405020304"/>
                <a:cs typeface="Times New Roman" panose="02020603050405020304"/>
              </a:rPr>
              <a:t>T170800220: Janhavi Deepak </a:t>
            </a:r>
            <a:r>
              <a:rPr b="0" i="0" u="none" dirty="0" err="1">
                <a:solidFill>
                  <a:srgbClr val="002060"/>
                </a:solidFill>
                <a:latin typeface="Times New Roman" panose="02020603050405020304"/>
                <a:cs typeface="Times New Roman" panose="02020603050405020304"/>
              </a:rPr>
              <a:t>Dhanawade</a:t>
            </a:r>
            <a:endParaRPr lang="en-US" b="0" i="0" u="none" dirty="0">
              <a:solidFill>
                <a:srgbClr val="002060"/>
              </a:solidFill>
              <a:latin typeface="Times New Roman" panose="02020603050405020304"/>
              <a:ea typeface="Calibri" panose="020F0502020204030204"/>
              <a:cs typeface="Times New Roman" panose="02020603050405020304"/>
            </a:endParaRPr>
          </a:p>
        </p:txBody>
      </p:sp>
      <p:sp>
        <p:nvSpPr>
          <p:cNvPr id="8" name="TextBox 7"/>
          <p:cNvSpPr txBox="1"/>
          <p:nvPr/>
        </p:nvSpPr>
        <p:spPr>
          <a:xfrm>
            <a:off x="6286500" y="4519612"/>
            <a:ext cx="3972817" cy="276999"/>
          </a:xfrm>
          <a:prstGeom prst="rect">
            <a:avLst/>
          </a:prstGeom>
          <a:noFill/>
        </p:spPr>
        <p:txBody>
          <a:bodyPr wrap="square" lIns="0" tIns="0" rIns="0" bIns="0" anchor="t">
            <a:spAutoFit/>
          </a:bodyPr>
          <a:lstStyle/>
          <a:p>
            <a:pPr algn="l"/>
            <a:r>
              <a:rPr b="0" i="0" u="none">
                <a:solidFill>
                  <a:srgbClr val="002060"/>
                </a:solidFill>
                <a:latin typeface="Times New Roman" panose="02020603050405020304"/>
                <a:cs typeface="Times New Roman" panose="02020603050405020304"/>
              </a:rPr>
              <a:t>T170800212: Gayatri Pathade</a:t>
            </a:r>
            <a:endParaRPr lang="en-US" b="0" i="0" u="none">
              <a:solidFill>
                <a:srgbClr val="002060"/>
              </a:solidFill>
              <a:latin typeface="Times New Roman" panose="02020603050405020304"/>
              <a:ea typeface="Calibri" panose="020F0502020204030204"/>
              <a:cs typeface="Times New Roman" panose="02020603050405020304"/>
            </a:endParaRPr>
          </a:p>
        </p:txBody>
      </p:sp>
      <p:sp>
        <p:nvSpPr>
          <p:cNvPr id="9" name="TextBox 8"/>
          <p:cNvSpPr txBox="1"/>
          <p:nvPr/>
        </p:nvSpPr>
        <p:spPr>
          <a:xfrm>
            <a:off x="1932682" y="4910137"/>
            <a:ext cx="3972817" cy="276999"/>
          </a:xfrm>
          <a:prstGeom prst="rect">
            <a:avLst/>
          </a:prstGeom>
          <a:noFill/>
        </p:spPr>
        <p:txBody>
          <a:bodyPr wrap="square" lIns="0" tIns="0" rIns="0" bIns="0" anchor="t">
            <a:spAutoFit/>
          </a:bodyPr>
          <a:lstStyle/>
          <a:p>
            <a:pPr algn="l"/>
            <a:r>
              <a:rPr b="0" i="0" u="none">
                <a:solidFill>
                  <a:srgbClr val="002060"/>
                </a:solidFill>
                <a:latin typeface="Times New Roman" panose="02020603050405020304"/>
                <a:cs typeface="Times New Roman" panose="02020603050405020304"/>
              </a:rPr>
              <a:t>T170800242: Anushka Kishor Bairagi</a:t>
            </a:r>
            <a:endParaRPr lang="en-US" b="0" i="0" u="none">
              <a:solidFill>
                <a:srgbClr val="002060"/>
              </a:solidFill>
              <a:latin typeface="Times New Roman" panose="02020603050405020304"/>
              <a:cs typeface="Times New Roman" panose="02020603050405020304"/>
            </a:endParaRPr>
          </a:p>
        </p:txBody>
      </p:sp>
      <p:sp>
        <p:nvSpPr>
          <p:cNvPr id="10" name="TextBox 9"/>
          <p:cNvSpPr txBox="1"/>
          <p:nvPr/>
        </p:nvSpPr>
        <p:spPr>
          <a:xfrm>
            <a:off x="6286500" y="4910137"/>
            <a:ext cx="3972817" cy="276999"/>
          </a:xfrm>
          <a:prstGeom prst="rect">
            <a:avLst/>
          </a:prstGeom>
          <a:noFill/>
        </p:spPr>
        <p:txBody>
          <a:bodyPr wrap="square" lIns="0" tIns="0" rIns="0" bIns="0" anchor="t">
            <a:spAutoFit/>
          </a:bodyPr>
          <a:lstStyle/>
          <a:p>
            <a:pPr algn="l"/>
            <a:r>
              <a:rPr b="0" i="0" u="none">
                <a:solidFill>
                  <a:srgbClr val="002060"/>
                </a:solidFill>
                <a:latin typeface="Times New Roman" panose="02020603050405020304"/>
                <a:cs typeface="Times New Roman" panose="02020603050405020304"/>
              </a:rPr>
              <a:t>T170800202: Aishwarya Laxman Zanjad</a:t>
            </a:r>
            <a:endParaRPr lang="en-US" b="0" i="0" u="none">
              <a:solidFill>
                <a:srgbClr val="002060"/>
              </a:solidFill>
              <a:latin typeface="Times New Roman" panose="02020603050405020304"/>
              <a:ea typeface="Calibri" panose="020F0502020204030204"/>
              <a:cs typeface="Times New Roman" panose="02020603050405020304"/>
            </a:endParaRPr>
          </a:p>
        </p:txBody>
      </p:sp>
      <p:sp>
        <p:nvSpPr>
          <p:cNvPr id="11" name="TextBox 10"/>
          <p:cNvSpPr txBox="1"/>
          <p:nvPr/>
        </p:nvSpPr>
        <p:spPr>
          <a:xfrm>
            <a:off x="1251800" y="839152"/>
            <a:ext cx="9688398" cy="1754326"/>
          </a:xfrm>
          <a:prstGeom prst="rect">
            <a:avLst/>
          </a:prstGeom>
          <a:noFill/>
        </p:spPr>
        <p:txBody>
          <a:bodyPr wrap="square" lIns="0" tIns="0" rIns="0" bIns="0" anchor="t">
            <a:spAutoFit/>
          </a:bodyPr>
          <a:lstStyle/>
          <a:p>
            <a:pPr algn="ctr"/>
            <a:r>
              <a:rPr lang="en-US" sz="3000" b="1">
                <a:solidFill>
                  <a:srgbClr val="002060"/>
                </a:solidFill>
                <a:latin typeface="Times New Roman" panose="02020603050405020304"/>
                <a:cs typeface="Times New Roman" panose="02020603050405020304"/>
              </a:rPr>
              <a:t>CAPSTONE PROJECT</a:t>
            </a:r>
            <a:r>
              <a:rPr sz="3000" b="1" i="0" u="none">
                <a:solidFill>
                  <a:srgbClr val="002060"/>
                </a:solidFill>
                <a:latin typeface="Times New Roman" panose="02020603050405020304"/>
                <a:cs typeface="Times New Roman" panose="02020603050405020304"/>
              </a:rPr>
              <a:t> 2</a:t>
            </a:r>
            <a:endParaRPr lang="en-US" sz="3000" b="1">
              <a:solidFill>
                <a:srgbClr val="002060"/>
              </a:solidFill>
              <a:latin typeface="Times New Roman" panose="02020603050405020304"/>
              <a:ea typeface="Calibri" panose="020F0502020204030204"/>
              <a:cs typeface="Times New Roman" panose="02020603050405020304"/>
            </a:endParaRPr>
          </a:p>
          <a:p>
            <a:pPr algn="ctr"/>
            <a:r>
              <a:rPr sz="2800" dirty="0">
                <a:solidFill>
                  <a:srgbClr val="002060"/>
                </a:solidFill>
                <a:latin typeface="Times New Roman" panose="02020603050405020304"/>
                <a:cs typeface="Times New Roman" panose="02020603050405020304"/>
              </a:rPr>
              <a:t>
</a:t>
            </a:r>
            <a:r>
              <a:rPr sz="2800" b="1" i="0" u="none">
                <a:solidFill>
                  <a:srgbClr val="002060"/>
                </a:solidFill>
                <a:latin typeface="Times New Roman" panose="02020603050405020304"/>
                <a:cs typeface="Times New Roman" panose="02020603050405020304"/>
              </a:rPr>
              <a:t> HEART DISEASE DETECTION USING</a:t>
            </a:r>
            <a:r>
              <a:rPr sz="2800" dirty="0">
                <a:solidFill>
                  <a:srgbClr val="002060"/>
                </a:solidFill>
                <a:latin typeface="Times New Roman" panose="02020603050405020304"/>
                <a:cs typeface="Times New Roman" panose="02020603050405020304"/>
              </a:rPr>
              <a:t>
</a:t>
            </a:r>
            <a:r>
              <a:rPr sz="2800" b="1" i="0" u="none">
                <a:solidFill>
                  <a:srgbClr val="002060"/>
                </a:solidFill>
                <a:latin typeface="Times New Roman" panose="02020603050405020304"/>
                <a:cs typeface="Times New Roman" panose="02020603050405020304"/>
              </a:rPr>
              <a:t> CLASSIFICATION ALGORITHMS</a:t>
            </a:r>
            <a:endParaRPr lang="en-US" sz="2800" b="1" i="0" u="none">
              <a:solidFill>
                <a:srgbClr val="002060"/>
              </a:solidFill>
              <a:latin typeface="Times New Roman" panose="02020603050405020304"/>
              <a:ea typeface="Calibri" panose="020F0502020204030204"/>
              <a:cs typeface="Times New Roman" panose="02020603050405020304"/>
            </a:endParaRPr>
          </a:p>
        </p:txBody>
      </p:sp>
      <p:pic>
        <p:nvPicPr>
          <p:cNvPr id="12" name="Picture 11"/>
          <p:cNvPicPr>
            <a:picLocks noChangeAspect="1"/>
          </p:cNvPicPr>
          <p:nvPr/>
        </p:nvPicPr>
        <p:blipFill>
          <a:blip r:embed="rId2"/>
          <a:srcRect/>
          <a:stretch>
            <a:fillRect/>
          </a:stretch>
        </p:blipFill>
        <p:spPr>
          <a:xfrm>
            <a:off x="10254577" y="-1396"/>
            <a:ext cx="1581150" cy="10572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3348543"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Table of Contents</a:t>
            </a:r>
            <a:endParaRPr sz="3000" b="1" i="0" u="none">
              <a:solidFill>
                <a:srgbClr val="4A154B"/>
              </a:solidFill>
              <a:latin typeface="Calibri" panose="020F0502020204030204"/>
            </a:endParaRPr>
          </a:p>
        </p:txBody>
      </p:sp>
      <p:sp>
        <p:nvSpPr>
          <p:cNvPr id="4" name="TextBox 3"/>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5" name="TextBox 4"/>
          <p:cNvSpPr txBox="1"/>
          <p:nvPr/>
        </p:nvSpPr>
        <p:spPr>
          <a:xfrm>
            <a:off x="857250" y="109537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Problem Statement</a:t>
            </a:r>
            <a:endParaRPr sz="1950" b="0" i="0" u="none">
              <a:solidFill>
                <a:srgbClr val="000000"/>
              </a:solidFill>
              <a:latin typeface="Calibri" panose="020F0502020204030204"/>
            </a:endParaRPr>
          </a:p>
        </p:txBody>
      </p:sp>
      <p:sp>
        <p:nvSpPr>
          <p:cNvPr id="6" name="TextBox 5"/>
          <p:cNvSpPr txBox="1"/>
          <p:nvPr/>
        </p:nvSpPr>
        <p:spPr>
          <a:xfrm>
            <a:off x="771525" y="16097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7" name="TextBox 6"/>
          <p:cNvSpPr txBox="1"/>
          <p:nvPr/>
        </p:nvSpPr>
        <p:spPr>
          <a:xfrm>
            <a:off x="857250" y="160972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Project Overview</a:t>
            </a:r>
            <a:endParaRPr sz="1950" b="0" i="0" u="none">
              <a:solidFill>
                <a:srgbClr val="000000"/>
              </a:solidFill>
              <a:latin typeface="Calibri" panose="020F0502020204030204"/>
            </a:endParaRPr>
          </a:p>
        </p:txBody>
      </p:sp>
      <p:sp>
        <p:nvSpPr>
          <p:cNvPr id="8" name="TextBox 7"/>
          <p:cNvSpPr txBox="1"/>
          <p:nvPr/>
        </p:nvSpPr>
        <p:spPr>
          <a:xfrm>
            <a:off x="771525" y="21240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9" name="TextBox 8"/>
          <p:cNvSpPr txBox="1"/>
          <p:nvPr/>
        </p:nvSpPr>
        <p:spPr>
          <a:xfrm>
            <a:off x="857250" y="212407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Data generation &amp; Loading</a:t>
            </a:r>
            <a:endParaRPr sz="1950" b="0" i="0" u="none">
              <a:solidFill>
                <a:srgbClr val="000000"/>
              </a:solidFill>
              <a:latin typeface="Calibri" panose="020F0502020204030204"/>
            </a:endParaRPr>
          </a:p>
        </p:txBody>
      </p:sp>
      <p:sp>
        <p:nvSpPr>
          <p:cNvPr id="10" name="TextBox 9"/>
          <p:cNvSpPr txBox="1"/>
          <p:nvPr/>
        </p:nvSpPr>
        <p:spPr>
          <a:xfrm>
            <a:off x="771525" y="26384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1" name="TextBox 10"/>
          <p:cNvSpPr txBox="1"/>
          <p:nvPr/>
        </p:nvSpPr>
        <p:spPr>
          <a:xfrm>
            <a:off x="857250" y="263842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Data Exploration &amp; Understanding</a:t>
            </a:r>
            <a:endParaRPr sz="1950" b="0" i="0" u="none">
              <a:solidFill>
                <a:srgbClr val="000000"/>
              </a:solidFill>
              <a:latin typeface="Calibri" panose="020F0502020204030204"/>
            </a:endParaRPr>
          </a:p>
        </p:txBody>
      </p:sp>
      <p:sp>
        <p:nvSpPr>
          <p:cNvPr id="12" name="TextBox 11"/>
          <p:cNvSpPr txBox="1"/>
          <p:nvPr/>
        </p:nvSpPr>
        <p:spPr>
          <a:xfrm>
            <a:off x="771525" y="31527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3" name="TextBox 12"/>
          <p:cNvSpPr txBox="1"/>
          <p:nvPr/>
        </p:nvSpPr>
        <p:spPr>
          <a:xfrm>
            <a:off x="857250" y="315277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Exploratory Data Analysis</a:t>
            </a:r>
            <a:endParaRPr sz="1950" b="0" i="0" u="none">
              <a:solidFill>
                <a:srgbClr val="000000"/>
              </a:solidFill>
              <a:latin typeface="Calibri" panose="020F0502020204030204"/>
            </a:endParaRPr>
          </a:p>
        </p:txBody>
      </p:sp>
      <p:sp>
        <p:nvSpPr>
          <p:cNvPr id="14" name="TextBox 13"/>
          <p:cNvSpPr txBox="1"/>
          <p:nvPr/>
        </p:nvSpPr>
        <p:spPr>
          <a:xfrm>
            <a:off x="771525" y="36671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5" name="TextBox 14"/>
          <p:cNvSpPr txBox="1"/>
          <p:nvPr/>
        </p:nvSpPr>
        <p:spPr>
          <a:xfrm>
            <a:off x="857250" y="366712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Data Preprocessing &amp; Feature Engineering</a:t>
            </a:r>
            <a:endParaRPr sz="1950" b="0" i="0" u="none">
              <a:solidFill>
                <a:srgbClr val="000000"/>
              </a:solidFill>
              <a:latin typeface="Calibri" panose="020F0502020204030204"/>
            </a:endParaRPr>
          </a:p>
        </p:txBody>
      </p:sp>
      <p:sp>
        <p:nvSpPr>
          <p:cNvPr id="16" name="TextBox 15"/>
          <p:cNvSpPr txBox="1"/>
          <p:nvPr/>
        </p:nvSpPr>
        <p:spPr>
          <a:xfrm>
            <a:off x="639127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7" name="TextBox 16"/>
          <p:cNvSpPr txBox="1"/>
          <p:nvPr/>
        </p:nvSpPr>
        <p:spPr>
          <a:xfrm>
            <a:off x="6477000" y="109537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Model Building &amp; Training</a:t>
            </a:r>
            <a:endParaRPr sz="1950" b="0" i="0" u="none">
              <a:solidFill>
                <a:srgbClr val="000000"/>
              </a:solidFill>
              <a:latin typeface="Calibri" panose="020F0502020204030204"/>
            </a:endParaRPr>
          </a:p>
        </p:txBody>
      </p:sp>
      <p:sp>
        <p:nvSpPr>
          <p:cNvPr id="18" name="TextBox 17"/>
          <p:cNvSpPr txBox="1"/>
          <p:nvPr/>
        </p:nvSpPr>
        <p:spPr>
          <a:xfrm>
            <a:off x="6391275" y="16097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9" name="TextBox 18"/>
          <p:cNvSpPr txBox="1"/>
          <p:nvPr/>
        </p:nvSpPr>
        <p:spPr>
          <a:xfrm>
            <a:off x="6477000" y="160972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Model Evaluation &amp; Performance Analysis</a:t>
            </a:r>
            <a:endParaRPr sz="1950" b="0" i="0" u="none">
              <a:solidFill>
                <a:srgbClr val="000000"/>
              </a:solidFill>
              <a:latin typeface="Calibri" panose="020F0502020204030204"/>
            </a:endParaRPr>
          </a:p>
        </p:txBody>
      </p:sp>
      <p:sp>
        <p:nvSpPr>
          <p:cNvPr id="20" name="TextBox 19"/>
          <p:cNvSpPr txBox="1"/>
          <p:nvPr/>
        </p:nvSpPr>
        <p:spPr>
          <a:xfrm>
            <a:off x="6391275" y="21240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21" name="TextBox 20"/>
          <p:cNvSpPr txBox="1"/>
          <p:nvPr/>
        </p:nvSpPr>
        <p:spPr>
          <a:xfrm>
            <a:off x="6477000" y="212407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Model Comparison</a:t>
            </a:r>
            <a:endParaRPr sz="1950" b="0" i="0" u="none">
              <a:solidFill>
                <a:srgbClr val="000000"/>
              </a:solidFill>
              <a:latin typeface="Calibri" panose="020F0502020204030204"/>
            </a:endParaRPr>
          </a:p>
        </p:txBody>
      </p:sp>
      <p:sp>
        <p:nvSpPr>
          <p:cNvPr id="22" name="TextBox 21"/>
          <p:cNvSpPr txBox="1"/>
          <p:nvPr/>
        </p:nvSpPr>
        <p:spPr>
          <a:xfrm>
            <a:off x="6391275" y="26384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23" name="TextBox 22"/>
          <p:cNvSpPr txBox="1"/>
          <p:nvPr/>
        </p:nvSpPr>
        <p:spPr>
          <a:xfrm>
            <a:off x="6477000" y="263842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Stream API Deployment (Streamlit)</a:t>
            </a:r>
            <a:endParaRPr sz="1950" b="0" i="0" u="none">
              <a:solidFill>
                <a:srgbClr val="000000"/>
              </a:solidFill>
              <a:latin typeface="Calibri" panose="020F0502020204030204"/>
            </a:endParaRPr>
          </a:p>
        </p:txBody>
      </p:sp>
      <p:sp>
        <p:nvSpPr>
          <p:cNvPr id="24" name="TextBox 23"/>
          <p:cNvSpPr txBox="1"/>
          <p:nvPr/>
        </p:nvSpPr>
        <p:spPr>
          <a:xfrm>
            <a:off x="6391275" y="31527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25" name="TextBox 24"/>
          <p:cNvSpPr txBox="1"/>
          <p:nvPr/>
        </p:nvSpPr>
        <p:spPr>
          <a:xfrm>
            <a:off x="6477000" y="315277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Docker Deployment</a:t>
            </a:r>
            <a:endParaRPr sz="1950" b="0" i="0" u="none">
              <a:solidFill>
                <a:srgbClr val="000000"/>
              </a:solidFill>
              <a:latin typeface="Calibri" panose="020F0502020204030204"/>
            </a:endParaRPr>
          </a:p>
        </p:txBody>
      </p:sp>
      <p:sp>
        <p:nvSpPr>
          <p:cNvPr id="26" name="TextBox 25"/>
          <p:cNvSpPr txBox="1"/>
          <p:nvPr/>
        </p:nvSpPr>
        <p:spPr>
          <a:xfrm>
            <a:off x="6391275" y="36671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27" name="TextBox 26"/>
          <p:cNvSpPr txBox="1"/>
          <p:nvPr/>
        </p:nvSpPr>
        <p:spPr>
          <a:xfrm>
            <a:off x="6477000" y="3667125"/>
            <a:ext cx="514350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Conclusion</a:t>
            </a:r>
            <a:endParaRPr sz="1950" b="0" i="0" u="none">
              <a:solidFill>
                <a:srgbClr val="000000"/>
              </a:solidFill>
              <a:latin typeface="Calibri" panose="020F0502020204030204"/>
            </a:endParaRPr>
          </a:p>
        </p:txBody>
      </p:sp>
      <p:pic>
        <p:nvPicPr>
          <p:cNvPr id="28" name="Picture 27"/>
          <p:cNvPicPr>
            <a:picLocks noChangeAspect="1"/>
          </p:cNvPicPr>
          <p:nvPr/>
        </p:nvPicPr>
        <p:blipFill>
          <a:blip r:embed="rId1"/>
          <a:srcRect/>
          <a:stretch>
            <a:fillRect/>
          </a:stretch>
        </p:blipFill>
        <p:spPr>
          <a:xfrm>
            <a:off x="10354637" y="-1396"/>
            <a:ext cx="1581150" cy="10572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3645768"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Problem Statement</a:t>
            </a:r>
            <a:endParaRPr sz="3000" b="1" i="0" u="none">
              <a:solidFill>
                <a:srgbClr val="4A154B"/>
              </a:solidFill>
              <a:latin typeface="Calibri" panose="020F0502020204030204"/>
            </a:endParaRPr>
          </a:p>
        </p:txBody>
      </p:sp>
      <p:sp>
        <p:nvSpPr>
          <p:cNvPr id="4" name="TextBox 3"/>
          <p:cNvSpPr txBox="1"/>
          <p:nvPr/>
        </p:nvSpPr>
        <p:spPr>
          <a:xfrm>
            <a:off x="571500" y="1095375"/>
            <a:ext cx="11049000" cy="792360"/>
          </a:xfrm>
          <a:prstGeom prst="rect">
            <a:avLst/>
          </a:prstGeom>
          <a:noFill/>
        </p:spPr>
        <p:txBody>
          <a:bodyPr wrap="square" lIns="0" tIns="0" rIns="0" bIns="0" anchor="t">
            <a:spAutoFit/>
          </a:bodyPr>
          <a:lstStyle/>
          <a:p>
            <a:pPr algn="l">
              <a:lnSpc>
                <a:spcPts val="3120"/>
              </a:lnSpc>
            </a:pPr>
            <a:r>
              <a:rPr sz="1950" b="0" i="0" u="none">
                <a:solidFill>
                  <a:srgbClr val="000000"/>
                </a:solidFill>
                <a:latin typeface="Calibri" panose="020F0502020204030204"/>
              </a:rPr>
              <a:t>Heart disease is one of the leading causes of death worldwide. Early and accurate detection through diagnostic screening can significantly improve patient survival rates and reduce healthcare costs.</a:t>
            </a:r>
            <a:endParaRPr sz="1950" b="0" i="0" u="none">
              <a:solidFill>
                <a:srgbClr val="000000"/>
              </a:solidFill>
              <a:latin typeface="Calibri" panose="020F0502020204030204"/>
            </a:endParaRPr>
          </a:p>
        </p:txBody>
      </p:sp>
      <p:sp>
        <p:nvSpPr>
          <p:cNvPr id="5" name="TextBox 4"/>
          <p:cNvSpPr txBox="1"/>
          <p:nvPr/>
        </p:nvSpPr>
        <p:spPr>
          <a:xfrm>
            <a:off x="571500" y="2078235"/>
            <a:ext cx="11049000" cy="4401185"/>
          </a:xfrm>
          <a:prstGeom prst="rect">
            <a:avLst/>
          </a:prstGeom>
          <a:noFill/>
        </p:spPr>
        <p:txBody>
          <a:bodyPr wrap="square" lIns="0" tIns="0" rIns="0" bIns="0" anchor="t">
            <a:spAutoFit/>
          </a:bodyPr>
          <a:lstStyle/>
          <a:p>
            <a:pPr algn="l">
              <a:lnSpc>
                <a:spcPts val="3120"/>
              </a:lnSpc>
            </a:pPr>
            <a:r>
              <a:rPr sz="1950" b="0" i="0" u="none">
                <a:solidFill>
                  <a:srgbClr val="000000"/>
                </a:solidFill>
                <a:latin typeface="Calibri" panose="020F0502020204030204"/>
              </a:rPr>
              <a:t>This project aims to build machine learning models that predict the presence of heart disease based on patients' demographic, clinical, and diagnostic test data, enabling healthcare professionals to make timely and informed decisions.</a:t>
            </a:r>
            <a:endParaRPr sz="1950" b="0" i="0" u="none">
              <a:solidFill>
                <a:srgbClr val="000000"/>
              </a:solidFill>
              <a:latin typeface="Calibri" panose="020F0502020204030204"/>
            </a:endParaRPr>
          </a:p>
          <a:p>
            <a:pPr algn="l">
              <a:lnSpc>
                <a:spcPts val="3120"/>
              </a:lnSpc>
            </a:pPr>
            <a:endParaRPr sz="1950" b="0" i="0" u="none">
              <a:solidFill>
                <a:srgbClr val="000000"/>
              </a:solidFill>
              <a:latin typeface="Calibri" panose="020F0502020204030204"/>
            </a:endParaRPr>
          </a:p>
          <a:p>
            <a:pPr marL="342900" indent="-342900" algn="l">
              <a:lnSpc>
                <a:spcPts val="3120"/>
              </a:lnSpc>
              <a:buFont typeface="Arial" panose="020B0604020202020204" pitchFamily="34" charset="0"/>
              <a:buChar char="•"/>
            </a:pPr>
            <a:r>
              <a:rPr lang="en-US" altLang="en-US" sz="1950" b="0" i="0" u="none">
                <a:solidFill>
                  <a:srgbClr val="000000"/>
                </a:solidFill>
                <a:latin typeface="Calibri" panose="020F0502020204030204"/>
              </a:rPr>
              <a:t>You are working with clinical health data to develop a system for early heart disease risk prediction.</a:t>
            </a:r>
            <a:endParaRPr lang="en-US" altLang="en-US" sz="1950" b="0" i="0" u="none">
              <a:solidFill>
                <a:srgbClr val="000000"/>
              </a:solidFill>
              <a:latin typeface="Calibri" panose="020F0502020204030204"/>
            </a:endParaRPr>
          </a:p>
          <a:p>
            <a:pPr marL="342900" indent="-342900" algn="l">
              <a:lnSpc>
                <a:spcPts val="3120"/>
              </a:lnSpc>
              <a:buFont typeface="Arial" panose="020B0604020202020204" pitchFamily="34" charset="0"/>
              <a:buChar char="•"/>
            </a:pPr>
            <a:r>
              <a:rPr lang="en-US" altLang="en-US" sz="1950" b="0" i="0" u="none">
                <a:solidFill>
                  <a:srgbClr val="000000"/>
                </a:solidFill>
                <a:latin typeface="Calibri" panose="020F0502020204030204"/>
              </a:rPr>
              <a:t>The task is to build a Machine Learning classification model that predicts whether a person is likely to have heart disease based on clinical and physiological parameters.</a:t>
            </a:r>
            <a:endParaRPr lang="en-US" altLang="en-US" sz="1950" b="0" i="0" u="none">
              <a:solidFill>
                <a:srgbClr val="000000"/>
              </a:solidFill>
              <a:latin typeface="Calibri" panose="020F0502020204030204"/>
            </a:endParaRPr>
          </a:p>
          <a:p>
            <a:pPr marL="342900" indent="-342900" algn="l">
              <a:lnSpc>
                <a:spcPts val="3120"/>
              </a:lnSpc>
              <a:buFont typeface="Arial" panose="020B0604020202020204" pitchFamily="34" charset="0"/>
              <a:buChar char="•"/>
            </a:pPr>
            <a:r>
              <a:rPr lang="en-US" altLang="en-US" sz="1950" b="0" i="0" u="none">
                <a:solidFill>
                  <a:srgbClr val="000000"/>
                </a:solidFill>
                <a:latin typeface="Calibri" panose="020F0502020204030204"/>
              </a:rPr>
              <a:t>The system uses features such as age, sex, chest pain type, blood pressure, cholesterol, maximum heart rate, exercise-induced angina, and ST-related measurements.</a:t>
            </a:r>
            <a:endParaRPr lang="en-US" altLang="en-US" sz="1950" b="0" i="0" u="none">
              <a:solidFill>
                <a:srgbClr val="000000"/>
              </a:solidFill>
              <a:latin typeface="Calibri" panose="020F0502020204030204"/>
            </a:endParaRPr>
          </a:p>
          <a:p>
            <a:pPr marL="342900" indent="-342900" algn="l">
              <a:lnSpc>
                <a:spcPts val="3120"/>
              </a:lnSpc>
              <a:buFont typeface="Arial" panose="020B0604020202020204" pitchFamily="34" charset="0"/>
              <a:buChar char="•"/>
            </a:pPr>
            <a:r>
              <a:rPr lang="en-US" altLang="en-US" sz="1950" b="0" i="0" u="none">
                <a:solidFill>
                  <a:srgbClr val="000000"/>
                </a:solidFill>
                <a:latin typeface="Calibri" panose="020F0502020204030204"/>
              </a:rPr>
              <a:t>The goal is to provide quick and reliable predictions that can support early risk assessment and help users understand potential heart disease risk.</a:t>
            </a:r>
            <a:endParaRPr lang="en-US" altLang="en-US" sz="1950" b="0" i="0" u="none">
              <a:solidFill>
                <a:srgbClr val="000000"/>
              </a:solidFill>
              <a:latin typeface="Calibri" panose="020F0502020204030204"/>
            </a:endParaRPr>
          </a:p>
        </p:txBody>
      </p:sp>
      <p:pic>
        <p:nvPicPr>
          <p:cNvPr id="6" name="Picture 5"/>
          <p:cNvPicPr>
            <a:picLocks noChangeAspect="1"/>
          </p:cNvPicPr>
          <p:nvPr/>
        </p:nvPicPr>
        <p:blipFill>
          <a:blip r:embed="rId1"/>
          <a:srcRect/>
          <a:stretch>
            <a:fillRect/>
          </a:stretch>
        </p:blipFill>
        <p:spPr>
          <a:xfrm>
            <a:off x="10415905" y="4762"/>
            <a:ext cx="1581150" cy="10572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4446493"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Overview of the Project</a:t>
            </a:r>
            <a:endParaRPr sz="3000" b="1" i="0" u="none">
              <a:solidFill>
                <a:srgbClr val="4A154B"/>
              </a:solidFill>
              <a:latin typeface="Calibri" panose="020F0502020204030204"/>
            </a:endParaRPr>
          </a:p>
        </p:txBody>
      </p:sp>
      <p:sp>
        <p:nvSpPr>
          <p:cNvPr id="4" name="TextBox 3"/>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5" name="TextBox 4"/>
          <p:cNvSpPr txBox="1"/>
          <p:nvPr/>
        </p:nvSpPr>
        <p:spPr>
          <a:xfrm>
            <a:off x="857250" y="1095375"/>
            <a:ext cx="1076325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Develop and compare multiple classification algorithms to predict heart disease risk.</a:t>
            </a:r>
            <a:endParaRPr sz="1950" b="0" i="0" u="none">
              <a:solidFill>
                <a:srgbClr val="000000"/>
              </a:solidFill>
              <a:latin typeface="Calibri" panose="020F0502020204030204"/>
            </a:endParaRPr>
          </a:p>
        </p:txBody>
      </p:sp>
      <p:sp>
        <p:nvSpPr>
          <p:cNvPr id="6" name="TextBox 5"/>
          <p:cNvSpPr txBox="1"/>
          <p:nvPr/>
        </p:nvSpPr>
        <p:spPr>
          <a:xfrm>
            <a:off x="771525" y="16097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7" name="TextBox 6"/>
          <p:cNvSpPr txBox="1"/>
          <p:nvPr/>
        </p:nvSpPr>
        <p:spPr>
          <a:xfrm>
            <a:off x="857250" y="1609725"/>
            <a:ext cx="1076325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Models include: Logistic Regression, Decision Tree, Random Forest, and SVM.</a:t>
            </a:r>
            <a:endParaRPr sz="1950" b="0" i="0" u="none">
              <a:solidFill>
                <a:srgbClr val="000000"/>
              </a:solidFill>
              <a:latin typeface="Calibri" panose="020F0502020204030204"/>
            </a:endParaRPr>
          </a:p>
        </p:txBody>
      </p:sp>
      <p:sp>
        <p:nvSpPr>
          <p:cNvPr id="8" name="TextBox 7"/>
          <p:cNvSpPr txBox="1"/>
          <p:nvPr/>
        </p:nvSpPr>
        <p:spPr>
          <a:xfrm>
            <a:off x="771525" y="21240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9" name="TextBox 8"/>
          <p:cNvSpPr txBox="1"/>
          <p:nvPr/>
        </p:nvSpPr>
        <p:spPr>
          <a:xfrm>
            <a:off x="857250" y="2124075"/>
            <a:ext cx="1076325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Data preprocessing utilizes an 80:20 stratified Train/Test split inside a Scikit-learn Pipeline.</a:t>
            </a:r>
            <a:endParaRPr sz="1950" b="0" i="0" u="none">
              <a:solidFill>
                <a:srgbClr val="000000"/>
              </a:solidFill>
              <a:latin typeface="Calibri" panose="020F0502020204030204"/>
            </a:endParaRPr>
          </a:p>
        </p:txBody>
      </p:sp>
      <p:sp>
        <p:nvSpPr>
          <p:cNvPr id="10" name="TextBox 9"/>
          <p:cNvSpPr txBox="1"/>
          <p:nvPr/>
        </p:nvSpPr>
        <p:spPr>
          <a:xfrm>
            <a:off x="771525" y="26384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1" name="TextBox 10"/>
          <p:cNvSpPr txBox="1"/>
          <p:nvPr/>
        </p:nvSpPr>
        <p:spPr>
          <a:xfrm>
            <a:off x="857250" y="2638425"/>
            <a:ext cx="10763250" cy="742950"/>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Performance evaluation focuses heavily on </a:t>
            </a:r>
            <a:r>
              <a:rPr sz="1950" b="1" i="0" u="none">
                <a:solidFill>
                  <a:srgbClr val="000000"/>
                </a:solidFill>
                <a:latin typeface="Calibri" panose="020F0502020204030204"/>
              </a:rPr>
              <a:t>Recall (Sensitivity)</a:t>
            </a:r>
            <a:r>
              <a:rPr sz="1950" b="0" i="0" u="none">
                <a:solidFill>
                  <a:srgbClr val="000000"/>
                </a:solidFill>
                <a:latin typeface="Calibri" panose="020F0502020204030204"/>
              </a:rPr>
              <a:t> to minimize false negatives (missed diagnoses).</a:t>
            </a:r>
            <a:endParaRPr sz="1950" b="0" i="0" u="none">
              <a:solidFill>
                <a:srgbClr val="000000"/>
              </a:solidFill>
              <a:latin typeface="Calibri" panose="020F0502020204030204"/>
            </a:endParaRPr>
          </a:p>
        </p:txBody>
      </p:sp>
      <p:sp>
        <p:nvSpPr>
          <p:cNvPr id="12" name="TextBox 11"/>
          <p:cNvSpPr txBox="1"/>
          <p:nvPr/>
        </p:nvSpPr>
        <p:spPr>
          <a:xfrm>
            <a:off x="771525" y="352425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3" name="TextBox 12"/>
          <p:cNvSpPr txBox="1"/>
          <p:nvPr/>
        </p:nvSpPr>
        <p:spPr>
          <a:xfrm>
            <a:off x="857250" y="3524250"/>
            <a:ext cx="1076325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The final tuned Random Forest model is deployed via a Streamlit web application.</a:t>
            </a:r>
            <a:endParaRPr sz="1950" b="0" i="0" u="none">
              <a:solidFill>
                <a:srgbClr val="000000"/>
              </a:solidFill>
              <a:latin typeface="Calibri" panose="020F0502020204030204"/>
            </a:endParaRPr>
          </a:p>
        </p:txBody>
      </p:sp>
      <p:sp>
        <p:nvSpPr>
          <p:cNvPr id="14" name="TextBox 13"/>
          <p:cNvSpPr txBox="1"/>
          <p:nvPr/>
        </p:nvSpPr>
        <p:spPr>
          <a:xfrm>
            <a:off x="771525" y="403860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5" name="TextBox 14"/>
          <p:cNvSpPr txBox="1"/>
          <p:nvPr/>
        </p:nvSpPr>
        <p:spPr>
          <a:xfrm>
            <a:off x="857250" y="4038600"/>
            <a:ext cx="1076325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The entire application is containerized using Docker and deployed with GitHub Actions for CI/CD.</a:t>
            </a:r>
            <a:endParaRPr sz="1950" b="0" i="0" u="none">
              <a:solidFill>
                <a:srgbClr val="000000"/>
              </a:solidFill>
              <a:latin typeface="Calibri" panose="020F0502020204030204"/>
            </a:endParaRPr>
          </a:p>
        </p:txBody>
      </p:sp>
      <p:pic>
        <p:nvPicPr>
          <p:cNvPr id="16" name="Picture 15"/>
          <p:cNvPicPr>
            <a:picLocks noChangeAspect="1"/>
          </p:cNvPicPr>
          <p:nvPr/>
        </p:nvPicPr>
        <p:blipFill>
          <a:blip r:embed="rId1"/>
          <a:srcRect/>
          <a:stretch>
            <a:fillRect/>
          </a:stretch>
        </p:blipFill>
        <p:spPr>
          <a:xfrm>
            <a:off x="10466705" y="4762"/>
            <a:ext cx="1581150" cy="10572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5090011"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Data generation &amp; Loading</a:t>
            </a:r>
            <a:endParaRPr sz="3000" b="1" i="0" u="none">
              <a:solidFill>
                <a:srgbClr val="4A154B"/>
              </a:solidFill>
              <a:latin typeface="Calibri" panose="020F0502020204030204"/>
            </a:endParaRPr>
          </a:p>
        </p:txBody>
      </p:sp>
      <p:sp>
        <p:nvSpPr>
          <p:cNvPr id="4" name="TextBox 3"/>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5" name="TextBox 4"/>
          <p:cNvSpPr txBox="1"/>
          <p:nvPr/>
        </p:nvSpPr>
        <p:spPr>
          <a:xfrm>
            <a:off x="857250" y="1095375"/>
            <a:ext cx="10763250" cy="3714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Dataset Name:</a:t>
            </a:r>
            <a:r>
              <a:rPr sz="1950" b="0" i="0" u="none">
                <a:solidFill>
                  <a:srgbClr val="000000"/>
                </a:solidFill>
                <a:latin typeface="Calibri" panose="020F0502020204030204"/>
              </a:rPr>
              <a:t> heart_disease_dataset</a:t>
            </a:r>
            <a:endParaRPr sz="1950" b="0" i="0" u="none">
              <a:solidFill>
                <a:srgbClr val="000000"/>
              </a:solidFill>
              <a:latin typeface="Calibri" panose="020F0502020204030204"/>
            </a:endParaRPr>
          </a:p>
        </p:txBody>
      </p:sp>
      <p:sp>
        <p:nvSpPr>
          <p:cNvPr id="6" name="TextBox 5"/>
          <p:cNvSpPr txBox="1"/>
          <p:nvPr/>
        </p:nvSpPr>
        <p:spPr>
          <a:xfrm>
            <a:off x="771525" y="16097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7" name="TextBox 6"/>
          <p:cNvSpPr txBox="1"/>
          <p:nvPr/>
        </p:nvSpPr>
        <p:spPr>
          <a:xfrm>
            <a:off x="857250" y="1609725"/>
            <a:ext cx="10763250" cy="374650"/>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Dataset Size:</a:t>
            </a:r>
            <a:r>
              <a:rPr sz="1950" b="0" i="0" u="none">
                <a:solidFill>
                  <a:srgbClr val="000000"/>
                </a:solidFill>
                <a:latin typeface="Calibri" panose="020F0502020204030204"/>
              </a:rPr>
              <a:t> </a:t>
            </a:r>
            <a:r>
              <a:rPr lang="en-IN" sz="1950" b="0" i="0" u="none">
                <a:solidFill>
                  <a:srgbClr val="000000"/>
                </a:solidFill>
                <a:latin typeface="Calibri" panose="020F0502020204030204"/>
              </a:rPr>
              <a:t>9</a:t>
            </a:r>
            <a:r>
              <a:rPr sz="1950" b="0" i="0" u="none">
                <a:solidFill>
                  <a:srgbClr val="000000"/>
                </a:solidFill>
                <a:latin typeface="Calibri" panose="020F0502020204030204"/>
              </a:rPr>
              <a:t>00 records of patient clinical data</a:t>
            </a:r>
            <a:endParaRPr sz="1950" b="0" i="0" u="none">
              <a:solidFill>
                <a:srgbClr val="000000"/>
              </a:solidFill>
              <a:latin typeface="Calibri" panose="020F0502020204030204"/>
            </a:endParaRPr>
          </a:p>
        </p:txBody>
      </p:sp>
      <p:sp>
        <p:nvSpPr>
          <p:cNvPr id="8" name="TextBox 7"/>
          <p:cNvSpPr txBox="1"/>
          <p:nvPr/>
        </p:nvSpPr>
        <p:spPr>
          <a:xfrm>
            <a:off x="771525" y="21240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9" name="TextBox 8"/>
          <p:cNvSpPr txBox="1"/>
          <p:nvPr/>
        </p:nvSpPr>
        <p:spPr>
          <a:xfrm>
            <a:off x="857250" y="2124075"/>
            <a:ext cx="10763250" cy="3714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Target Variable:</a:t>
            </a:r>
            <a:r>
              <a:rPr sz="1950" b="0" i="0" u="none">
                <a:solidFill>
                  <a:srgbClr val="000000"/>
                </a:solidFill>
                <a:latin typeface="Calibri" panose="020F0502020204030204"/>
              </a:rPr>
              <a:t> heart_disease (0 = No Heart Disease, 1 = Heart Disease)</a:t>
            </a:r>
            <a:endParaRPr sz="1950" b="0" i="0" u="none">
              <a:solidFill>
                <a:srgbClr val="000000"/>
              </a:solidFill>
              <a:latin typeface="Calibri" panose="020F0502020204030204"/>
            </a:endParaRPr>
          </a:p>
        </p:txBody>
      </p:sp>
      <p:sp>
        <p:nvSpPr>
          <p:cNvPr id="10" name="TextBox 9"/>
          <p:cNvSpPr txBox="1"/>
          <p:nvPr/>
        </p:nvSpPr>
        <p:spPr>
          <a:xfrm>
            <a:off x="771525" y="26384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1" name="TextBox 10"/>
          <p:cNvSpPr txBox="1"/>
          <p:nvPr/>
        </p:nvSpPr>
        <p:spPr>
          <a:xfrm>
            <a:off x="857250" y="2638425"/>
            <a:ext cx="10763250" cy="202882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Key Features:</a:t>
            </a:r>
            <a:endParaRPr sz="1950" b="1" i="0" u="none">
              <a:solidFill>
                <a:srgbClr val="000000"/>
              </a:solidFill>
              <a:latin typeface="Calibri" panose="020F0502020204030204"/>
            </a:endParaRPr>
          </a:p>
        </p:txBody>
      </p:sp>
      <p:sp>
        <p:nvSpPr>
          <p:cNvPr id="12" name="TextBox 11"/>
          <p:cNvSpPr txBox="1"/>
          <p:nvPr/>
        </p:nvSpPr>
        <p:spPr>
          <a:xfrm>
            <a:off x="771525" y="48101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3" name="TextBox 12"/>
          <p:cNvSpPr txBox="1"/>
          <p:nvPr/>
        </p:nvSpPr>
        <p:spPr>
          <a:xfrm>
            <a:off x="857250" y="4810125"/>
            <a:ext cx="1076325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Data stored in CSV format for reproducibility.</a:t>
            </a:r>
            <a:endParaRPr sz="1950" b="0" i="0" u="none">
              <a:solidFill>
                <a:srgbClr val="000000"/>
              </a:solidFill>
              <a:latin typeface="Calibri" panose="020F0502020204030204"/>
            </a:endParaRPr>
          </a:p>
        </p:txBody>
      </p:sp>
      <p:sp>
        <p:nvSpPr>
          <p:cNvPr id="14" name="TextBox 13"/>
          <p:cNvSpPr txBox="1"/>
          <p:nvPr/>
        </p:nvSpPr>
        <p:spPr>
          <a:xfrm>
            <a:off x="1000125" y="31051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5" name="TextBox 14"/>
          <p:cNvSpPr txBox="1"/>
          <p:nvPr/>
        </p:nvSpPr>
        <p:spPr>
          <a:xfrm>
            <a:off x="1143000" y="310515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Demographics:</a:t>
            </a:r>
            <a:r>
              <a:rPr sz="1800" b="0" i="0" u="none">
                <a:solidFill>
                  <a:srgbClr val="000000"/>
                </a:solidFill>
                <a:latin typeface="Calibri" panose="020F0502020204030204"/>
              </a:rPr>
              <a:t> Age, Sex</a:t>
            </a:r>
            <a:endParaRPr sz="1800" b="0" i="0" u="none">
              <a:solidFill>
                <a:srgbClr val="000000"/>
              </a:solidFill>
              <a:latin typeface="Calibri" panose="020F0502020204030204"/>
            </a:endParaRPr>
          </a:p>
        </p:txBody>
      </p:sp>
      <p:sp>
        <p:nvSpPr>
          <p:cNvPr id="16" name="TextBox 15"/>
          <p:cNvSpPr txBox="1"/>
          <p:nvPr/>
        </p:nvSpPr>
        <p:spPr>
          <a:xfrm>
            <a:off x="1000125" y="35433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7" name="TextBox 16"/>
          <p:cNvSpPr txBox="1"/>
          <p:nvPr/>
        </p:nvSpPr>
        <p:spPr>
          <a:xfrm>
            <a:off x="1143000" y="354330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Vitals/Labs:</a:t>
            </a:r>
            <a:r>
              <a:rPr sz="1800" b="0" i="0" u="none">
                <a:solidFill>
                  <a:srgbClr val="000000"/>
                </a:solidFill>
                <a:latin typeface="Calibri" panose="020F0502020204030204"/>
              </a:rPr>
              <a:t> Resting Blood Pressure, Cholesterol, Fasting Blood Sugar, Max Heart Rate</a:t>
            </a:r>
            <a:endParaRPr sz="1800" b="0" i="0" u="none">
              <a:solidFill>
                <a:srgbClr val="000000"/>
              </a:solidFill>
              <a:latin typeface="Calibri" panose="020F0502020204030204"/>
            </a:endParaRPr>
          </a:p>
        </p:txBody>
      </p:sp>
      <p:sp>
        <p:nvSpPr>
          <p:cNvPr id="18" name="TextBox 17"/>
          <p:cNvSpPr txBox="1"/>
          <p:nvPr/>
        </p:nvSpPr>
        <p:spPr>
          <a:xfrm>
            <a:off x="1000125" y="39814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9" name="TextBox 18"/>
          <p:cNvSpPr txBox="1"/>
          <p:nvPr/>
        </p:nvSpPr>
        <p:spPr>
          <a:xfrm>
            <a:off x="1143000" y="3981450"/>
            <a:ext cx="10477500" cy="6858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Clinical:</a:t>
            </a:r>
            <a:r>
              <a:rPr sz="1800" b="0" i="0" u="none">
                <a:solidFill>
                  <a:srgbClr val="000000"/>
                </a:solidFill>
                <a:latin typeface="Calibri" panose="020F0502020204030204"/>
              </a:rPr>
              <a:t> Chest Pain Type, Resting ECG, Exercise-Induced Angina, ST Depression, ST Slope, Num Major Vessels, Thalassemia</a:t>
            </a:r>
            <a:endParaRPr sz="1800" b="0" i="0" u="none">
              <a:solidFill>
                <a:srgbClr val="000000"/>
              </a:solidFill>
              <a:latin typeface="Calibri" panose="020F0502020204030204"/>
            </a:endParaRPr>
          </a:p>
        </p:txBody>
      </p:sp>
      <p:pic>
        <p:nvPicPr>
          <p:cNvPr id="20" name="Picture 19"/>
          <p:cNvPicPr>
            <a:picLocks noChangeAspect="1"/>
          </p:cNvPicPr>
          <p:nvPr/>
        </p:nvPicPr>
        <p:blipFill>
          <a:blip r:embed="rId1"/>
          <a:srcRect/>
          <a:stretch>
            <a:fillRect/>
          </a:stretch>
        </p:blipFill>
        <p:spPr>
          <a:xfrm>
            <a:off x="10466705" y="4762"/>
            <a:ext cx="1581150" cy="10572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tretch>
            <a:fillRect/>
          </a:stretch>
        </p:blipFill>
        <p:spPr>
          <a:xfrm>
            <a:off x="7621270" y="2468245"/>
            <a:ext cx="2816225" cy="1687195"/>
          </a:xfrm>
          <a:prstGeom prst="rect">
            <a:avLst/>
          </a:prstGeom>
        </p:spPr>
      </p:pic>
      <p:sp>
        <p:nvSpPr>
          <p:cNvPr id="3" name="TextBox 2"/>
          <p:cNvSpPr txBox="1"/>
          <p:nvPr/>
        </p:nvSpPr>
        <p:spPr>
          <a:xfrm>
            <a:off x="571500" y="381000"/>
            <a:ext cx="6512532"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Data Exploration &amp; Understanding</a:t>
            </a:r>
            <a:endParaRPr sz="3000" b="1" i="0" u="none">
              <a:solidFill>
                <a:srgbClr val="4A154B"/>
              </a:solidFill>
              <a:latin typeface="Calibri" panose="020F0502020204030204"/>
            </a:endParaRPr>
          </a:p>
        </p:txBody>
      </p:sp>
      <p:sp>
        <p:nvSpPr>
          <p:cNvPr id="5" name="TextBox 4"/>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6" name="TextBox 5"/>
          <p:cNvSpPr txBox="1"/>
          <p:nvPr/>
        </p:nvSpPr>
        <p:spPr>
          <a:xfrm>
            <a:off x="857250" y="1095375"/>
            <a:ext cx="5048250" cy="742950"/>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The dataset contains 13 predictive features and 1 class label.</a:t>
            </a:r>
            <a:endParaRPr sz="1950" b="0" i="0" u="none">
              <a:solidFill>
                <a:srgbClr val="000000"/>
              </a:solidFill>
              <a:latin typeface="Calibri" panose="020F0502020204030204"/>
            </a:endParaRPr>
          </a:p>
        </p:txBody>
      </p:sp>
      <p:sp>
        <p:nvSpPr>
          <p:cNvPr id="7" name="TextBox 6"/>
          <p:cNvSpPr txBox="1"/>
          <p:nvPr/>
        </p:nvSpPr>
        <p:spPr>
          <a:xfrm>
            <a:off x="771525" y="198120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8" name="TextBox 7"/>
          <p:cNvSpPr txBox="1"/>
          <p:nvPr/>
        </p:nvSpPr>
        <p:spPr>
          <a:xfrm>
            <a:off x="857250" y="1981200"/>
            <a:ext cx="5048250" cy="168592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Data Quality Check:</a:t>
            </a:r>
            <a:endParaRPr sz="1950" b="1" i="0" u="none">
              <a:solidFill>
                <a:srgbClr val="000000"/>
              </a:solidFill>
              <a:latin typeface="Calibri" panose="020F0502020204030204"/>
            </a:endParaRPr>
          </a:p>
        </p:txBody>
      </p:sp>
      <p:sp>
        <p:nvSpPr>
          <p:cNvPr id="9" name="TextBox 8"/>
          <p:cNvSpPr txBox="1"/>
          <p:nvPr/>
        </p:nvSpPr>
        <p:spPr>
          <a:xfrm>
            <a:off x="771525" y="381000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0" name="TextBox 9"/>
          <p:cNvSpPr txBox="1"/>
          <p:nvPr/>
        </p:nvSpPr>
        <p:spPr>
          <a:xfrm>
            <a:off x="857250" y="3810000"/>
            <a:ext cx="5048250" cy="1485900"/>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Formatting:</a:t>
            </a:r>
            <a:r>
              <a:rPr sz="1950" b="0" i="0" u="none">
                <a:solidFill>
                  <a:srgbClr val="000000"/>
                </a:solidFill>
                <a:latin typeface="Calibri" panose="020F0502020204030204"/>
              </a:rPr>
              <a:t> Data is already in numerical format, meaning no explicit categorical encoding techniques (like One-Hot Encoding) are strictly required prior to modeling.</a:t>
            </a:r>
            <a:endParaRPr sz="1950" b="0" i="0" u="none">
              <a:solidFill>
                <a:srgbClr val="000000"/>
              </a:solidFill>
              <a:latin typeface="Calibri" panose="020F0502020204030204"/>
            </a:endParaRPr>
          </a:p>
        </p:txBody>
      </p:sp>
      <p:sp>
        <p:nvSpPr>
          <p:cNvPr id="11" name="TextBox 10"/>
          <p:cNvSpPr txBox="1"/>
          <p:nvPr/>
        </p:nvSpPr>
        <p:spPr>
          <a:xfrm>
            <a:off x="7953062" y="2776537"/>
            <a:ext cx="2000875" cy="209550"/>
          </a:xfrm>
          <a:prstGeom prst="rect">
            <a:avLst/>
          </a:prstGeom>
          <a:noFill/>
        </p:spPr>
        <p:txBody>
          <a:bodyPr wrap="square" lIns="0" tIns="0" rIns="0" bIns="0" anchor="t">
            <a:spAutoFit/>
          </a:bodyPr>
          <a:lstStyle/>
          <a:p>
            <a:pPr algn="ctr"/>
            <a:r>
              <a:rPr sz="1405" b="1" i="0" u="none">
                <a:solidFill>
                  <a:srgbClr val="4A154B"/>
                </a:solidFill>
                <a:latin typeface="Calibri" panose="020F0502020204030204"/>
              </a:rPr>
              <a:t>Data Split Strategy</a:t>
            </a:r>
            <a:endParaRPr sz="1405" b="1" i="0" u="none">
              <a:solidFill>
                <a:srgbClr val="4A154B"/>
              </a:solidFill>
              <a:latin typeface="Calibri" panose="020F0502020204030204"/>
            </a:endParaRPr>
          </a:p>
        </p:txBody>
      </p:sp>
      <p:sp>
        <p:nvSpPr>
          <p:cNvPr id="12" name="TextBox 11"/>
          <p:cNvSpPr txBox="1"/>
          <p:nvPr/>
        </p:nvSpPr>
        <p:spPr>
          <a:xfrm>
            <a:off x="8000702" y="3128962"/>
            <a:ext cx="1905595" cy="266700"/>
          </a:xfrm>
          <a:prstGeom prst="rect">
            <a:avLst/>
          </a:prstGeom>
          <a:noFill/>
        </p:spPr>
        <p:txBody>
          <a:bodyPr wrap="square" lIns="0" tIns="0" rIns="0" bIns="0" anchor="t">
            <a:spAutoFit/>
          </a:bodyPr>
          <a:lstStyle/>
          <a:p>
            <a:pPr algn="ctr"/>
            <a:r>
              <a:rPr sz="1800" b="1" i="0" u="none">
                <a:solidFill>
                  <a:srgbClr val="000000"/>
                </a:solidFill>
                <a:latin typeface="Calibri" panose="020F0502020204030204"/>
              </a:rPr>
              <a:t>Training Set: 80%</a:t>
            </a:r>
            <a:endParaRPr sz="1800" b="1" i="0" u="none">
              <a:solidFill>
                <a:srgbClr val="000000"/>
              </a:solidFill>
              <a:latin typeface="Calibri" panose="020F0502020204030204"/>
            </a:endParaRPr>
          </a:p>
        </p:txBody>
      </p:sp>
      <p:sp>
        <p:nvSpPr>
          <p:cNvPr id="13" name="TextBox 12"/>
          <p:cNvSpPr txBox="1"/>
          <p:nvPr/>
        </p:nvSpPr>
        <p:spPr>
          <a:xfrm>
            <a:off x="8000702" y="3490912"/>
            <a:ext cx="1905595" cy="266700"/>
          </a:xfrm>
          <a:prstGeom prst="rect">
            <a:avLst/>
          </a:prstGeom>
          <a:noFill/>
        </p:spPr>
        <p:txBody>
          <a:bodyPr wrap="square" lIns="0" tIns="0" rIns="0" bIns="0" anchor="t">
            <a:spAutoFit/>
          </a:bodyPr>
          <a:lstStyle/>
          <a:p>
            <a:pPr algn="ctr"/>
            <a:r>
              <a:rPr sz="1800" b="1" i="0" u="none">
                <a:solidFill>
                  <a:srgbClr val="000000"/>
                </a:solidFill>
                <a:latin typeface="Calibri" panose="020F0502020204030204"/>
              </a:rPr>
              <a:t>Testing Set: 20%</a:t>
            </a:r>
            <a:endParaRPr sz="1800" b="1" i="0" u="none">
              <a:solidFill>
                <a:srgbClr val="000000"/>
              </a:solidFill>
              <a:latin typeface="Calibri" panose="020F0502020204030204"/>
            </a:endParaRPr>
          </a:p>
        </p:txBody>
      </p:sp>
      <p:sp>
        <p:nvSpPr>
          <p:cNvPr id="14" name="TextBox 13"/>
          <p:cNvSpPr txBox="1"/>
          <p:nvPr/>
        </p:nvSpPr>
        <p:spPr>
          <a:xfrm>
            <a:off x="1000125" y="2447925"/>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5" name="TextBox 14"/>
          <p:cNvSpPr txBox="1"/>
          <p:nvPr/>
        </p:nvSpPr>
        <p:spPr>
          <a:xfrm>
            <a:off x="1143000" y="2447925"/>
            <a:ext cx="4762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No missing values present in the dataset.</a:t>
            </a:r>
            <a:endParaRPr sz="1800" b="0" i="0" u="none">
              <a:solidFill>
                <a:srgbClr val="000000"/>
              </a:solidFill>
              <a:latin typeface="Calibri" panose="020F0502020204030204"/>
            </a:endParaRPr>
          </a:p>
        </p:txBody>
      </p:sp>
      <p:sp>
        <p:nvSpPr>
          <p:cNvPr id="16" name="TextBox 15"/>
          <p:cNvSpPr txBox="1"/>
          <p:nvPr/>
        </p:nvSpPr>
        <p:spPr>
          <a:xfrm>
            <a:off x="1000125" y="2886075"/>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7" name="TextBox 16"/>
          <p:cNvSpPr txBox="1"/>
          <p:nvPr/>
        </p:nvSpPr>
        <p:spPr>
          <a:xfrm>
            <a:off x="1143000" y="2886075"/>
            <a:ext cx="4762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Handling missing values is not required.</a:t>
            </a:r>
            <a:endParaRPr sz="1800" b="0" i="0" u="none">
              <a:solidFill>
                <a:srgbClr val="000000"/>
              </a:solidFill>
              <a:latin typeface="Calibri" panose="020F0502020204030204"/>
            </a:endParaRPr>
          </a:p>
        </p:txBody>
      </p:sp>
      <p:sp>
        <p:nvSpPr>
          <p:cNvPr id="18" name="TextBox 17"/>
          <p:cNvSpPr txBox="1"/>
          <p:nvPr/>
        </p:nvSpPr>
        <p:spPr>
          <a:xfrm>
            <a:off x="1000125" y="3324225"/>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9" name="TextBox 18"/>
          <p:cNvSpPr txBox="1"/>
          <p:nvPr/>
        </p:nvSpPr>
        <p:spPr>
          <a:xfrm>
            <a:off x="1143000" y="3324225"/>
            <a:ext cx="4762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Data is complete and ready for analysis.</a:t>
            </a:r>
            <a:endParaRPr sz="1800" b="0" i="0" u="none">
              <a:solidFill>
                <a:srgbClr val="000000"/>
              </a:solidFill>
              <a:latin typeface="Calibri" panose="020F0502020204030204"/>
            </a:endParaRPr>
          </a:p>
        </p:txBody>
      </p:sp>
      <p:pic>
        <p:nvPicPr>
          <p:cNvPr id="20" name="Picture 19"/>
          <p:cNvPicPr>
            <a:picLocks noChangeAspect="1"/>
          </p:cNvPicPr>
          <p:nvPr/>
        </p:nvPicPr>
        <p:blipFill>
          <a:blip r:embed="rId2"/>
          <a:srcRect/>
          <a:stretch>
            <a:fillRect/>
          </a:stretch>
        </p:blipFill>
        <p:spPr>
          <a:xfrm>
            <a:off x="10405745" y="4762"/>
            <a:ext cx="1581150" cy="10572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4943274"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Exploratory Data Analysis</a:t>
            </a:r>
            <a:endParaRPr sz="3000" b="1" i="0" u="none">
              <a:solidFill>
                <a:srgbClr val="4A154B"/>
              </a:solidFill>
              <a:latin typeface="Calibri" panose="020F0502020204030204"/>
            </a:endParaRPr>
          </a:p>
        </p:txBody>
      </p:sp>
      <p:sp>
        <p:nvSpPr>
          <p:cNvPr id="4" name="TextBox 3"/>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5" name="TextBox 4"/>
          <p:cNvSpPr txBox="1"/>
          <p:nvPr/>
        </p:nvSpPr>
        <p:spPr>
          <a:xfrm>
            <a:off x="857250" y="1095375"/>
            <a:ext cx="10763250" cy="742950"/>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Target Distribution:</a:t>
            </a:r>
            <a:r>
              <a:rPr sz="1950" b="0" i="0" u="none">
                <a:solidFill>
                  <a:srgbClr val="000000"/>
                </a:solidFill>
                <a:latin typeface="Calibri" panose="020F0502020204030204"/>
              </a:rPr>
              <a:t> Checked class balance between disease and no-disease patients to identify potential class imbalance issues.</a:t>
            </a:r>
            <a:endParaRPr sz="1950" b="0" i="0" u="none">
              <a:solidFill>
                <a:srgbClr val="000000"/>
              </a:solidFill>
              <a:latin typeface="Calibri" panose="020F0502020204030204"/>
            </a:endParaRPr>
          </a:p>
        </p:txBody>
      </p:sp>
      <p:sp>
        <p:nvSpPr>
          <p:cNvPr id="6" name="TextBox 5"/>
          <p:cNvSpPr txBox="1"/>
          <p:nvPr/>
        </p:nvSpPr>
        <p:spPr>
          <a:xfrm>
            <a:off x="771525" y="198120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7" name="TextBox 6"/>
          <p:cNvSpPr txBox="1"/>
          <p:nvPr/>
        </p:nvSpPr>
        <p:spPr>
          <a:xfrm>
            <a:off x="857250" y="1981200"/>
            <a:ext cx="10763250" cy="742950"/>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Feature Distributions:</a:t>
            </a:r>
            <a:r>
              <a:rPr sz="1950" b="0" i="0" u="none">
                <a:solidFill>
                  <a:srgbClr val="000000"/>
                </a:solidFill>
                <a:latin typeface="Calibri" panose="020F0502020204030204"/>
              </a:rPr>
              <a:t> Analyzed Age, Cholesterol, and Resting Blood Pressure via histograms to understand data spread.</a:t>
            </a:r>
            <a:endParaRPr sz="1950" b="0" i="0" u="none">
              <a:solidFill>
                <a:srgbClr val="000000"/>
              </a:solidFill>
              <a:latin typeface="Calibri" panose="020F0502020204030204"/>
            </a:endParaRPr>
          </a:p>
        </p:txBody>
      </p:sp>
      <p:sp>
        <p:nvSpPr>
          <p:cNvPr id="8" name="TextBox 7"/>
          <p:cNvSpPr txBox="1"/>
          <p:nvPr/>
        </p:nvSpPr>
        <p:spPr>
          <a:xfrm>
            <a:off x="771525" y="28670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9" name="TextBox 8"/>
          <p:cNvSpPr txBox="1"/>
          <p:nvPr/>
        </p:nvSpPr>
        <p:spPr>
          <a:xfrm>
            <a:off x="857250" y="2867025"/>
            <a:ext cx="10763250" cy="74993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Correlation Matrix:</a:t>
            </a:r>
            <a:r>
              <a:rPr sz="1950" b="0" i="0" u="none">
                <a:solidFill>
                  <a:srgbClr val="000000"/>
                </a:solidFill>
                <a:latin typeface="Calibri" panose="020F0502020204030204"/>
              </a:rPr>
              <a:t> Found relationships among variables (e.g. checking for multicollinearity) using a heatmap.</a:t>
            </a:r>
            <a:endParaRPr sz="1950" b="0" i="0" u="none">
              <a:solidFill>
                <a:srgbClr val="000000"/>
              </a:solidFill>
              <a:latin typeface="Calibri" panose="020F0502020204030204"/>
            </a:endParaRPr>
          </a:p>
        </p:txBody>
      </p:sp>
      <p:sp>
        <p:nvSpPr>
          <p:cNvPr id="10" name="TextBox 9"/>
          <p:cNvSpPr txBox="1"/>
          <p:nvPr/>
        </p:nvSpPr>
        <p:spPr>
          <a:xfrm>
            <a:off x="771525" y="375285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1" name="TextBox 10"/>
          <p:cNvSpPr txBox="1"/>
          <p:nvPr/>
        </p:nvSpPr>
        <p:spPr>
          <a:xfrm>
            <a:off x="857250" y="3752850"/>
            <a:ext cx="10763250" cy="12477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Key Insights:</a:t>
            </a:r>
            <a:endParaRPr sz="1950" b="1" i="0" u="none">
              <a:solidFill>
                <a:srgbClr val="000000"/>
              </a:solidFill>
              <a:latin typeface="Calibri" panose="020F0502020204030204"/>
            </a:endParaRPr>
          </a:p>
        </p:txBody>
      </p:sp>
      <p:sp>
        <p:nvSpPr>
          <p:cNvPr id="12" name="TextBox 11"/>
          <p:cNvSpPr txBox="1"/>
          <p:nvPr/>
        </p:nvSpPr>
        <p:spPr>
          <a:xfrm>
            <a:off x="1000125" y="4219575"/>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3" name="TextBox 12"/>
          <p:cNvSpPr txBox="1"/>
          <p:nvPr/>
        </p:nvSpPr>
        <p:spPr>
          <a:xfrm>
            <a:off x="1143000" y="4219575"/>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Observed specific age trends related to heart disease presence.</a:t>
            </a:r>
            <a:endParaRPr sz="1800" b="0" i="0" u="none">
              <a:solidFill>
                <a:srgbClr val="000000"/>
              </a:solidFill>
              <a:latin typeface="Calibri" panose="020F0502020204030204"/>
            </a:endParaRPr>
          </a:p>
        </p:txBody>
      </p:sp>
      <p:sp>
        <p:nvSpPr>
          <p:cNvPr id="14" name="TextBox 13"/>
          <p:cNvSpPr txBox="1"/>
          <p:nvPr/>
        </p:nvSpPr>
        <p:spPr>
          <a:xfrm>
            <a:off x="1000125" y="4657725"/>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5" name="TextBox 14"/>
          <p:cNvSpPr txBox="1"/>
          <p:nvPr/>
        </p:nvSpPr>
        <p:spPr>
          <a:xfrm>
            <a:off x="1143000" y="4657725"/>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Analyzed specific Chest Pain Types associated with higher risk.</a:t>
            </a:r>
            <a:endParaRPr sz="1800" b="0" i="0" u="none">
              <a:solidFill>
                <a:srgbClr val="000000"/>
              </a:solidFill>
              <a:latin typeface="Calibri" panose="020F0502020204030204"/>
            </a:endParaRPr>
          </a:p>
        </p:txBody>
      </p:sp>
      <p:pic>
        <p:nvPicPr>
          <p:cNvPr id="16" name="Picture 15"/>
          <p:cNvPicPr>
            <a:picLocks noChangeAspect="1"/>
          </p:cNvPicPr>
          <p:nvPr/>
        </p:nvPicPr>
        <p:blipFill>
          <a:blip r:embed="rId1"/>
          <a:srcRect/>
          <a:stretch>
            <a:fillRect/>
          </a:stretch>
        </p:blipFill>
        <p:spPr>
          <a:xfrm>
            <a:off x="10466705" y="4762"/>
            <a:ext cx="1581150" cy="1057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8136641"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Data Preprocessing &amp; Feature Engineering</a:t>
            </a:r>
            <a:endParaRPr sz="3000" b="1" i="0" u="none">
              <a:solidFill>
                <a:srgbClr val="4A154B"/>
              </a:solidFill>
              <a:latin typeface="Calibri" panose="020F0502020204030204"/>
            </a:endParaRPr>
          </a:p>
        </p:txBody>
      </p:sp>
      <p:sp>
        <p:nvSpPr>
          <p:cNvPr id="4" name="TextBox 3"/>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5" name="TextBox 4"/>
          <p:cNvSpPr txBox="1"/>
          <p:nvPr/>
        </p:nvSpPr>
        <p:spPr>
          <a:xfrm>
            <a:off x="857250" y="1095375"/>
            <a:ext cx="10763250" cy="3714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Handling Missing Values:</a:t>
            </a:r>
            <a:r>
              <a:rPr sz="1950" b="0" i="0" u="none">
                <a:solidFill>
                  <a:srgbClr val="000000"/>
                </a:solidFill>
                <a:latin typeface="Calibri" panose="020F0502020204030204"/>
              </a:rPr>
              <a:t> Data was complete; no imputation was necessary.</a:t>
            </a:r>
            <a:endParaRPr sz="1950" b="0" i="0" u="none">
              <a:solidFill>
                <a:srgbClr val="000000"/>
              </a:solidFill>
              <a:latin typeface="Calibri" panose="020F0502020204030204"/>
            </a:endParaRPr>
          </a:p>
        </p:txBody>
      </p:sp>
      <p:sp>
        <p:nvSpPr>
          <p:cNvPr id="6" name="TextBox 5"/>
          <p:cNvSpPr txBox="1"/>
          <p:nvPr/>
        </p:nvSpPr>
        <p:spPr>
          <a:xfrm>
            <a:off x="771525" y="16097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7" name="TextBox 6"/>
          <p:cNvSpPr txBox="1"/>
          <p:nvPr/>
        </p:nvSpPr>
        <p:spPr>
          <a:xfrm>
            <a:off x="857250" y="1609725"/>
            <a:ext cx="10763250" cy="12477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Scaling Features:</a:t>
            </a:r>
            <a:endParaRPr sz="1950" b="1" i="0" u="none">
              <a:solidFill>
                <a:srgbClr val="000000"/>
              </a:solidFill>
              <a:latin typeface="Calibri" panose="020F0502020204030204"/>
            </a:endParaRPr>
          </a:p>
        </p:txBody>
      </p:sp>
      <p:sp>
        <p:nvSpPr>
          <p:cNvPr id="8" name="TextBox 7"/>
          <p:cNvSpPr txBox="1"/>
          <p:nvPr/>
        </p:nvSpPr>
        <p:spPr>
          <a:xfrm>
            <a:off x="771525" y="3000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9" name="TextBox 8"/>
          <p:cNvSpPr txBox="1"/>
          <p:nvPr/>
        </p:nvSpPr>
        <p:spPr>
          <a:xfrm>
            <a:off x="857250" y="3000375"/>
            <a:ext cx="10763250" cy="21240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Splitting Data:</a:t>
            </a:r>
            <a:endParaRPr sz="1950" b="1" i="0" u="none">
              <a:solidFill>
                <a:srgbClr val="000000"/>
              </a:solidFill>
              <a:latin typeface="Calibri" panose="020F0502020204030204"/>
            </a:endParaRPr>
          </a:p>
        </p:txBody>
      </p:sp>
      <p:sp>
        <p:nvSpPr>
          <p:cNvPr id="10" name="TextBox 9"/>
          <p:cNvSpPr txBox="1"/>
          <p:nvPr/>
        </p:nvSpPr>
        <p:spPr>
          <a:xfrm>
            <a:off x="1000125" y="20764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1" name="TextBox 10"/>
          <p:cNvSpPr txBox="1"/>
          <p:nvPr/>
        </p:nvSpPr>
        <p:spPr>
          <a:xfrm>
            <a:off x="1143000" y="2076450"/>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Features have different ranges (e.g., Cholesterol in 200s, ST Depression in small decimals).</a:t>
            </a:r>
            <a:endParaRPr sz="1800" b="0" i="0" u="none">
              <a:solidFill>
                <a:srgbClr val="000000"/>
              </a:solidFill>
              <a:latin typeface="Calibri" panose="020F0502020204030204"/>
            </a:endParaRPr>
          </a:p>
        </p:txBody>
      </p:sp>
      <p:sp>
        <p:nvSpPr>
          <p:cNvPr id="12" name="TextBox 11"/>
          <p:cNvSpPr txBox="1"/>
          <p:nvPr/>
        </p:nvSpPr>
        <p:spPr>
          <a:xfrm>
            <a:off x="1000125" y="25146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3" name="TextBox 12"/>
          <p:cNvSpPr txBox="1"/>
          <p:nvPr/>
        </p:nvSpPr>
        <p:spPr>
          <a:xfrm>
            <a:off x="1143000" y="2514600"/>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Standard scaling was applied within the Scikit-learn Pipeline so the model treats them fairly.</a:t>
            </a:r>
            <a:endParaRPr sz="1800" b="0" i="0" u="none">
              <a:solidFill>
                <a:srgbClr val="000000"/>
              </a:solidFill>
              <a:latin typeface="Calibri" panose="020F0502020204030204"/>
            </a:endParaRPr>
          </a:p>
        </p:txBody>
      </p:sp>
      <p:sp>
        <p:nvSpPr>
          <p:cNvPr id="14" name="TextBox 13"/>
          <p:cNvSpPr txBox="1"/>
          <p:nvPr/>
        </p:nvSpPr>
        <p:spPr>
          <a:xfrm>
            <a:off x="1000125" y="34671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5" name="TextBox 14"/>
          <p:cNvSpPr txBox="1"/>
          <p:nvPr/>
        </p:nvSpPr>
        <p:spPr>
          <a:xfrm>
            <a:off x="1143000" y="3467100"/>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Divide data into training set (80%) and test set (20%) using a stratified split.</a:t>
            </a:r>
            <a:endParaRPr sz="1800" b="0" i="0" u="none">
              <a:solidFill>
                <a:srgbClr val="000000"/>
              </a:solidFill>
              <a:latin typeface="Calibri" panose="020F0502020204030204"/>
            </a:endParaRPr>
          </a:p>
        </p:txBody>
      </p:sp>
      <p:sp>
        <p:nvSpPr>
          <p:cNvPr id="16" name="TextBox 15"/>
          <p:cNvSpPr txBox="1"/>
          <p:nvPr/>
        </p:nvSpPr>
        <p:spPr>
          <a:xfrm>
            <a:off x="1000125" y="39052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7" name="TextBox 16"/>
          <p:cNvSpPr txBox="1"/>
          <p:nvPr/>
        </p:nvSpPr>
        <p:spPr>
          <a:xfrm>
            <a:off x="1143000" y="3905250"/>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Training set → teach the model.</a:t>
            </a:r>
            <a:endParaRPr sz="1800" b="0" i="0" u="none">
              <a:solidFill>
                <a:srgbClr val="000000"/>
              </a:solidFill>
              <a:latin typeface="Calibri" panose="020F0502020204030204"/>
            </a:endParaRPr>
          </a:p>
        </p:txBody>
      </p:sp>
      <p:sp>
        <p:nvSpPr>
          <p:cNvPr id="18" name="TextBox 17"/>
          <p:cNvSpPr txBox="1"/>
          <p:nvPr/>
        </p:nvSpPr>
        <p:spPr>
          <a:xfrm>
            <a:off x="1000125" y="43434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9" name="TextBox 18"/>
          <p:cNvSpPr txBox="1"/>
          <p:nvPr/>
        </p:nvSpPr>
        <p:spPr>
          <a:xfrm>
            <a:off x="1143000" y="4343400"/>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Test set → check if the model works on new data.</a:t>
            </a:r>
            <a:endParaRPr sz="1800" b="0" i="0" u="none">
              <a:solidFill>
                <a:srgbClr val="000000"/>
              </a:solidFill>
              <a:latin typeface="Calibri" panose="020F0502020204030204"/>
            </a:endParaRPr>
          </a:p>
        </p:txBody>
      </p:sp>
      <p:sp>
        <p:nvSpPr>
          <p:cNvPr id="20" name="TextBox 19"/>
          <p:cNvSpPr txBox="1"/>
          <p:nvPr/>
        </p:nvSpPr>
        <p:spPr>
          <a:xfrm>
            <a:off x="1000125" y="47815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21" name="TextBox 20"/>
          <p:cNvSpPr txBox="1"/>
          <p:nvPr/>
        </p:nvSpPr>
        <p:spPr>
          <a:xfrm>
            <a:off x="1143000" y="4781550"/>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Use a fixed random state to ensure reproducibility.</a:t>
            </a:r>
            <a:endParaRPr sz="1800" b="0" i="0" u="none">
              <a:solidFill>
                <a:srgbClr val="000000"/>
              </a:solidFill>
              <a:latin typeface="Calibri" panose="020F0502020204030204"/>
            </a:endParaRPr>
          </a:p>
        </p:txBody>
      </p:sp>
      <p:pic>
        <p:nvPicPr>
          <p:cNvPr id="22" name="Picture 21"/>
          <p:cNvPicPr>
            <a:picLocks noChangeAspect="1"/>
          </p:cNvPicPr>
          <p:nvPr/>
        </p:nvPicPr>
        <p:blipFill>
          <a:blip r:embed="rId1"/>
          <a:srcRect/>
          <a:stretch>
            <a:fillRect/>
          </a:stretch>
        </p:blipFill>
        <p:spPr>
          <a:xfrm>
            <a:off x="10405745" y="4762"/>
            <a:ext cx="1581150" cy="10572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4933741"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Model Building &amp; Training</a:t>
            </a:r>
            <a:endParaRPr sz="3000" b="1" i="0" u="none">
              <a:solidFill>
                <a:srgbClr val="4A154B"/>
              </a:solidFill>
              <a:latin typeface="Calibri" panose="020F0502020204030204"/>
            </a:endParaRPr>
          </a:p>
        </p:txBody>
      </p:sp>
      <p:sp>
        <p:nvSpPr>
          <p:cNvPr id="4" name="TextBox 3"/>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5" name="TextBox 4"/>
          <p:cNvSpPr txBox="1"/>
          <p:nvPr/>
        </p:nvSpPr>
        <p:spPr>
          <a:xfrm>
            <a:off x="857250" y="1095375"/>
            <a:ext cx="10763250" cy="21240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Classification Algorithms Used:</a:t>
            </a:r>
            <a:endParaRPr sz="1950" b="1" i="0" u="none">
              <a:solidFill>
                <a:srgbClr val="000000"/>
              </a:solidFill>
              <a:latin typeface="Calibri" panose="020F0502020204030204"/>
            </a:endParaRPr>
          </a:p>
        </p:txBody>
      </p:sp>
      <p:sp>
        <p:nvSpPr>
          <p:cNvPr id="6" name="TextBox 5"/>
          <p:cNvSpPr txBox="1"/>
          <p:nvPr/>
        </p:nvSpPr>
        <p:spPr>
          <a:xfrm>
            <a:off x="771525" y="33623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7" name="TextBox 6"/>
          <p:cNvSpPr txBox="1"/>
          <p:nvPr/>
        </p:nvSpPr>
        <p:spPr>
          <a:xfrm>
            <a:off x="857250" y="3362325"/>
            <a:ext cx="10763250" cy="12477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Training the Model:</a:t>
            </a:r>
            <a:endParaRPr sz="1950" b="1" i="0" u="none">
              <a:solidFill>
                <a:srgbClr val="000000"/>
              </a:solidFill>
              <a:latin typeface="Calibri" panose="020F0502020204030204"/>
            </a:endParaRPr>
          </a:p>
        </p:txBody>
      </p:sp>
      <p:sp>
        <p:nvSpPr>
          <p:cNvPr id="8" name="TextBox 7"/>
          <p:cNvSpPr txBox="1"/>
          <p:nvPr/>
        </p:nvSpPr>
        <p:spPr>
          <a:xfrm>
            <a:off x="771525" y="47529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9" name="TextBox 8"/>
          <p:cNvSpPr txBox="1"/>
          <p:nvPr/>
        </p:nvSpPr>
        <p:spPr>
          <a:xfrm>
            <a:off x="857250" y="4752975"/>
            <a:ext cx="10763250" cy="742950"/>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Hyperparameter Tuning:</a:t>
            </a:r>
            <a:r>
              <a:rPr sz="1950" b="0" i="0" u="none">
                <a:solidFill>
                  <a:srgbClr val="000000"/>
                </a:solidFill>
                <a:latin typeface="Calibri" panose="020F0502020204030204"/>
              </a:rPr>
              <a:t> Conducted to optimize model settings (e.g., Random Forest `n_estimators`, `max_depth`).</a:t>
            </a:r>
            <a:endParaRPr sz="1950" b="0" i="0" u="none">
              <a:solidFill>
                <a:srgbClr val="000000"/>
              </a:solidFill>
              <a:latin typeface="Calibri" panose="020F0502020204030204"/>
            </a:endParaRPr>
          </a:p>
        </p:txBody>
      </p:sp>
      <p:sp>
        <p:nvSpPr>
          <p:cNvPr id="10" name="TextBox 9"/>
          <p:cNvSpPr txBox="1"/>
          <p:nvPr/>
        </p:nvSpPr>
        <p:spPr>
          <a:xfrm>
            <a:off x="1000125" y="15621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1" name="TextBox 10"/>
          <p:cNvSpPr txBox="1"/>
          <p:nvPr/>
        </p:nvSpPr>
        <p:spPr>
          <a:xfrm>
            <a:off x="1143000" y="156210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Logistic Regression:</a:t>
            </a:r>
            <a:r>
              <a:rPr sz="1800" b="0" i="0" u="none">
                <a:solidFill>
                  <a:srgbClr val="000000"/>
                </a:solidFill>
                <a:latin typeface="Calibri" panose="020F0502020204030204"/>
              </a:rPr>
              <a:t> A foundational linear model for binary classification.</a:t>
            </a:r>
            <a:endParaRPr sz="1800" b="0" i="0" u="none">
              <a:solidFill>
                <a:srgbClr val="000000"/>
              </a:solidFill>
              <a:latin typeface="Calibri" panose="020F0502020204030204"/>
            </a:endParaRPr>
          </a:p>
        </p:txBody>
      </p:sp>
      <p:sp>
        <p:nvSpPr>
          <p:cNvPr id="12" name="TextBox 11"/>
          <p:cNvSpPr txBox="1"/>
          <p:nvPr/>
        </p:nvSpPr>
        <p:spPr>
          <a:xfrm>
            <a:off x="1000125" y="20002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3" name="TextBox 12"/>
          <p:cNvSpPr txBox="1"/>
          <p:nvPr/>
        </p:nvSpPr>
        <p:spPr>
          <a:xfrm>
            <a:off x="1143000" y="200025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Decision Tree:</a:t>
            </a:r>
            <a:r>
              <a:rPr sz="1800" b="0" i="0" u="none">
                <a:solidFill>
                  <a:srgbClr val="000000"/>
                </a:solidFill>
                <a:latin typeface="Calibri" panose="020F0502020204030204"/>
              </a:rPr>
              <a:t> A non-linear model splitting data based on feature thresholds.</a:t>
            </a:r>
            <a:endParaRPr sz="1800" b="0" i="0" u="none">
              <a:solidFill>
                <a:srgbClr val="000000"/>
              </a:solidFill>
              <a:latin typeface="Calibri" panose="020F0502020204030204"/>
            </a:endParaRPr>
          </a:p>
        </p:txBody>
      </p:sp>
      <p:sp>
        <p:nvSpPr>
          <p:cNvPr id="14" name="TextBox 13"/>
          <p:cNvSpPr txBox="1"/>
          <p:nvPr/>
        </p:nvSpPr>
        <p:spPr>
          <a:xfrm>
            <a:off x="1000125" y="24384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5" name="TextBox 14"/>
          <p:cNvSpPr txBox="1"/>
          <p:nvPr/>
        </p:nvSpPr>
        <p:spPr>
          <a:xfrm>
            <a:off x="1143000" y="243840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Random Forest:</a:t>
            </a:r>
            <a:r>
              <a:rPr sz="1800" b="0" i="0" u="none">
                <a:solidFill>
                  <a:srgbClr val="000000"/>
                </a:solidFill>
                <a:latin typeface="Calibri" panose="020F0502020204030204"/>
              </a:rPr>
              <a:t> An ensemble of decision trees to reduce variance and overfitting.</a:t>
            </a:r>
            <a:endParaRPr sz="1800" b="0" i="0" u="none">
              <a:solidFill>
                <a:srgbClr val="000000"/>
              </a:solidFill>
              <a:latin typeface="Calibri" panose="020F0502020204030204"/>
            </a:endParaRPr>
          </a:p>
        </p:txBody>
      </p:sp>
      <p:sp>
        <p:nvSpPr>
          <p:cNvPr id="16" name="TextBox 15"/>
          <p:cNvSpPr txBox="1"/>
          <p:nvPr/>
        </p:nvSpPr>
        <p:spPr>
          <a:xfrm>
            <a:off x="1000125" y="28765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7" name="TextBox 16"/>
          <p:cNvSpPr txBox="1"/>
          <p:nvPr/>
        </p:nvSpPr>
        <p:spPr>
          <a:xfrm>
            <a:off x="1143000" y="287655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SVM (Support Vector Machine):</a:t>
            </a:r>
            <a:r>
              <a:rPr sz="1800" b="0" i="0" u="none">
                <a:solidFill>
                  <a:srgbClr val="000000"/>
                </a:solidFill>
                <a:latin typeface="Calibri" panose="020F0502020204030204"/>
              </a:rPr>
              <a:t> Finds the optimal hyperplane separating the classes.</a:t>
            </a:r>
            <a:endParaRPr sz="1800" b="0" i="0" u="none">
              <a:solidFill>
                <a:srgbClr val="000000"/>
              </a:solidFill>
              <a:latin typeface="Calibri" panose="020F0502020204030204"/>
            </a:endParaRPr>
          </a:p>
        </p:txBody>
      </p:sp>
      <p:sp>
        <p:nvSpPr>
          <p:cNvPr id="18" name="TextBox 17"/>
          <p:cNvSpPr txBox="1"/>
          <p:nvPr/>
        </p:nvSpPr>
        <p:spPr>
          <a:xfrm>
            <a:off x="1000125" y="38290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9" name="TextBox 18"/>
          <p:cNvSpPr txBox="1"/>
          <p:nvPr/>
        </p:nvSpPr>
        <p:spPr>
          <a:xfrm>
            <a:off x="1143000" y="3829050"/>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We give the 80% training data to the model to learn the patterns.</a:t>
            </a:r>
            <a:endParaRPr sz="1800" b="0" i="0" u="none">
              <a:solidFill>
                <a:srgbClr val="000000"/>
              </a:solidFill>
              <a:latin typeface="Calibri" panose="020F0502020204030204"/>
            </a:endParaRPr>
          </a:p>
        </p:txBody>
      </p:sp>
      <p:sp>
        <p:nvSpPr>
          <p:cNvPr id="20" name="TextBox 19"/>
          <p:cNvSpPr txBox="1"/>
          <p:nvPr/>
        </p:nvSpPr>
        <p:spPr>
          <a:xfrm>
            <a:off x="1000125" y="42672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21" name="TextBox 20"/>
          <p:cNvSpPr txBox="1"/>
          <p:nvPr/>
        </p:nvSpPr>
        <p:spPr>
          <a:xfrm>
            <a:off x="1143000" y="4267200"/>
            <a:ext cx="10477500" cy="342900"/>
          </a:xfrm>
          <a:prstGeom prst="rect">
            <a:avLst/>
          </a:prstGeom>
          <a:noFill/>
        </p:spPr>
        <p:txBody>
          <a:bodyPr wrap="square" lIns="142875" tIns="0" rIns="0" bIns="0" anchor="t">
            <a:spAutoFit/>
          </a:bodyPr>
          <a:lstStyle/>
          <a:p>
            <a:pPr algn="l">
              <a:lnSpc>
                <a:spcPts val="2700"/>
              </a:lnSpc>
            </a:pPr>
            <a:r>
              <a:rPr sz="1800" b="0" i="0" u="none">
                <a:solidFill>
                  <a:srgbClr val="000000"/>
                </a:solidFill>
                <a:latin typeface="Calibri" panose="020F0502020204030204"/>
              </a:rPr>
              <a:t>Then we evaluate it on the 20% unseen test data.</a:t>
            </a:r>
            <a:endParaRPr sz="1800" b="0" i="0" u="none">
              <a:solidFill>
                <a:srgbClr val="000000"/>
              </a:solidFill>
              <a:latin typeface="Calibri" panose="020F0502020204030204"/>
            </a:endParaRPr>
          </a:p>
        </p:txBody>
      </p:sp>
      <p:pic>
        <p:nvPicPr>
          <p:cNvPr id="22" name="Picture 21"/>
          <p:cNvPicPr>
            <a:picLocks noChangeAspect="1"/>
          </p:cNvPicPr>
          <p:nvPr/>
        </p:nvPicPr>
        <p:blipFill>
          <a:blip r:embed="rId1"/>
          <a:srcRect/>
          <a:stretch>
            <a:fillRect/>
          </a:stretch>
        </p:blipFill>
        <p:spPr>
          <a:xfrm>
            <a:off x="10466705" y="4762"/>
            <a:ext cx="1581150" cy="10572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7988498"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Model Evaluation &amp; Performance Analysis</a:t>
            </a:r>
            <a:endParaRPr sz="3000" b="1" i="0" u="none">
              <a:solidFill>
                <a:srgbClr val="4A154B"/>
              </a:solidFill>
              <a:latin typeface="Calibri" panose="020F0502020204030204"/>
            </a:endParaRPr>
          </a:p>
        </p:txBody>
      </p:sp>
      <p:sp>
        <p:nvSpPr>
          <p:cNvPr id="4" name="TextBox 3"/>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5" name="TextBox 4"/>
          <p:cNvSpPr txBox="1"/>
          <p:nvPr/>
        </p:nvSpPr>
        <p:spPr>
          <a:xfrm>
            <a:off x="857250" y="1095375"/>
            <a:ext cx="10763250" cy="24669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Primary Metrics to Check:</a:t>
            </a:r>
            <a:endParaRPr sz="1950" b="1" i="0" u="none">
              <a:solidFill>
                <a:srgbClr val="000000"/>
              </a:solidFill>
              <a:latin typeface="Calibri" panose="020F0502020204030204"/>
            </a:endParaRPr>
          </a:p>
        </p:txBody>
      </p:sp>
      <p:sp>
        <p:nvSpPr>
          <p:cNvPr id="6" name="TextBox 5"/>
          <p:cNvSpPr txBox="1"/>
          <p:nvPr/>
        </p:nvSpPr>
        <p:spPr>
          <a:xfrm>
            <a:off x="771525" y="37052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7" name="TextBox 6"/>
          <p:cNvSpPr txBox="1"/>
          <p:nvPr/>
        </p:nvSpPr>
        <p:spPr>
          <a:xfrm>
            <a:off x="857250" y="3705225"/>
            <a:ext cx="10763250" cy="12477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Secondary Metrics:</a:t>
            </a:r>
            <a:endParaRPr sz="1950" b="1" i="0" u="none">
              <a:solidFill>
                <a:srgbClr val="000000"/>
              </a:solidFill>
              <a:latin typeface="Calibri" panose="020F0502020204030204"/>
            </a:endParaRPr>
          </a:p>
        </p:txBody>
      </p:sp>
      <p:sp>
        <p:nvSpPr>
          <p:cNvPr id="8" name="TextBox 7"/>
          <p:cNvSpPr txBox="1"/>
          <p:nvPr/>
        </p:nvSpPr>
        <p:spPr>
          <a:xfrm>
            <a:off x="771525" y="50958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9" name="TextBox 8"/>
          <p:cNvSpPr txBox="1"/>
          <p:nvPr/>
        </p:nvSpPr>
        <p:spPr>
          <a:xfrm>
            <a:off x="857250" y="5095875"/>
            <a:ext cx="10763250" cy="742950"/>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Threshold Optimization:</a:t>
            </a:r>
            <a:r>
              <a:rPr sz="1950" b="0" i="0" u="none">
                <a:solidFill>
                  <a:srgbClr val="000000"/>
                </a:solidFill>
                <a:latin typeface="Calibri" panose="020F0502020204030204"/>
              </a:rPr>
              <a:t> Adjusted the decision threshold (0.5184) to maximize Recall without catastrophic loss to Specificity.</a:t>
            </a:r>
            <a:endParaRPr sz="1950" b="0" i="0" u="none">
              <a:solidFill>
                <a:srgbClr val="000000"/>
              </a:solidFill>
              <a:latin typeface="Calibri" panose="020F0502020204030204"/>
            </a:endParaRPr>
          </a:p>
        </p:txBody>
      </p:sp>
      <p:sp>
        <p:nvSpPr>
          <p:cNvPr id="10" name="TextBox 9"/>
          <p:cNvSpPr txBox="1"/>
          <p:nvPr/>
        </p:nvSpPr>
        <p:spPr>
          <a:xfrm>
            <a:off x="1000125" y="15621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1" name="TextBox 10"/>
          <p:cNvSpPr txBox="1"/>
          <p:nvPr/>
        </p:nvSpPr>
        <p:spPr>
          <a:xfrm>
            <a:off x="1143000" y="1562100"/>
            <a:ext cx="10477500" cy="6858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Recall (Sensitivity):</a:t>
            </a:r>
            <a:r>
              <a:rPr sz="1800" b="0" i="0" u="none">
                <a:solidFill>
                  <a:srgbClr val="000000"/>
                </a:solidFill>
                <a:latin typeface="Calibri" panose="020F0502020204030204"/>
              </a:rPr>
              <a:t> How well the model identifies positive cases (crucial to minimize false negatives in medical screening).</a:t>
            </a:r>
            <a:endParaRPr sz="1800" b="0" i="0" u="none">
              <a:solidFill>
                <a:srgbClr val="000000"/>
              </a:solidFill>
              <a:latin typeface="Calibri" panose="020F0502020204030204"/>
            </a:endParaRPr>
          </a:p>
        </p:txBody>
      </p:sp>
      <p:sp>
        <p:nvSpPr>
          <p:cNvPr id="12" name="TextBox 11"/>
          <p:cNvSpPr txBox="1"/>
          <p:nvPr/>
        </p:nvSpPr>
        <p:spPr>
          <a:xfrm>
            <a:off x="1000125" y="23431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3" name="TextBox 12"/>
          <p:cNvSpPr txBox="1"/>
          <p:nvPr/>
        </p:nvSpPr>
        <p:spPr>
          <a:xfrm>
            <a:off x="1143000" y="234315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Precision:</a:t>
            </a:r>
            <a:r>
              <a:rPr sz="1800" b="0" i="0" u="none">
                <a:solidFill>
                  <a:srgbClr val="000000"/>
                </a:solidFill>
                <a:latin typeface="Calibri" panose="020F0502020204030204"/>
              </a:rPr>
              <a:t> Accuracy of positive predictions.</a:t>
            </a:r>
            <a:endParaRPr sz="1800" b="0" i="0" u="none">
              <a:solidFill>
                <a:srgbClr val="000000"/>
              </a:solidFill>
              <a:latin typeface="Calibri" panose="020F0502020204030204"/>
            </a:endParaRPr>
          </a:p>
        </p:txBody>
      </p:sp>
      <p:sp>
        <p:nvSpPr>
          <p:cNvPr id="14" name="TextBox 13"/>
          <p:cNvSpPr txBox="1"/>
          <p:nvPr/>
        </p:nvSpPr>
        <p:spPr>
          <a:xfrm>
            <a:off x="1000125" y="27813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5" name="TextBox 14"/>
          <p:cNvSpPr txBox="1"/>
          <p:nvPr/>
        </p:nvSpPr>
        <p:spPr>
          <a:xfrm>
            <a:off x="1143000" y="278130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F1-Score:</a:t>
            </a:r>
            <a:r>
              <a:rPr sz="1800" b="0" i="0" u="none">
                <a:solidFill>
                  <a:srgbClr val="000000"/>
                </a:solidFill>
                <a:latin typeface="Calibri" panose="020F0502020204030204"/>
              </a:rPr>
              <a:t> Harmonic mean of Precision and Recall.</a:t>
            </a:r>
            <a:endParaRPr sz="1800" b="0" i="0" u="none">
              <a:solidFill>
                <a:srgbClr val="000000"/>
              </a:solidFill>
              <a:latin typeface="Calibri" panose="020F0502020204030204"/>
            </a:endParaRPr>
          </a:p>
        </p:txBody>
      </p:sp>
      <p:sp>
        <p:nvSpPr>
          <p:cNvPr id="16" name="TextBox 15"/>
          <p:cNvSpPr txBox="1"/>
          <p:nvPr/>
        </p:nvSpPr>
        <p:spPr>
          <a:xfrm>
            <a:off x="1000125" y="32194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7" name="TextBox 16"/>
          <p:cNvSpPr txBox="1"/>
          <p:nvPr/>
        </p:nvSpPr>
        <p:spPr>
          <a:xfrm>
            <a:off x="1143000" y="321945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ROC-AUC:</a:t>
            </a:r>
            <a:r>
              <a:rPr sz="1800" b="0" i="0" u="none">
                <a:solidFill>
                  <a:srgbClr val="000000"/>
                </a:solidFill>
                <a:latin typeface="Calibri" panose="020F0502020204030204"/>
              </a:rPr>
              <a:t> Ability to distinguish between classes.</a:t>
            </a:r>
            <a:endParaRPr sz="1800" b="0" i="0" u="none">
              <a:solidFill>
                <a:srgbClr val="000000"/>
              </a:solidFill>
              <a:latin typeface="Calibri" panose="020F0502020204030204"/>
            </a:endParaRPr>
          </a:p>
        </p:txBody>
      </p:sp>
      <p:sp>
        <p:nvSpPr>
          <p:cNvPr id="18" name="TextBox 17"/>
          <p:cNvSpPr txBox="1"/>
          <p:nvPr/>
        </p:nvSpPr>
        <p:spPr>
          <a:xfrm>
            <a:off x="1000125" y="417195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19" name="TextBox 18"/>
          <p:cNvSpPr txBox="1"/>
          <p:nvPr/>
        </p:nvSpPr>
        <p:spPr>
          <a:xfrm>
            <a:off x="1143000" y="417195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Accuracy:</a:t>
            </a:r>
            <a:r>
              <a:rPr sz="1800" b="0" i="0" u="none">
                <a:solidFill>
                  <a:srgbClr val="000000"/>
                </a:solidFill>
                <a:latin typeface="Calibri" panose="020F0502020204030204"/>
              </a:rPr>
              <a:t> Overall correctness of the model.</a:t>
            </a:r>
            <a:endParaRPr sz="1800" b="0" i="0" u="none">
              <a:solidFill>
                <a:srgbClr val="000000"/>
              </a:solidFill>
              <a:latin typeface="Calibri" panose="020F0502020204030204"/>
            </a:endParaRPr>
          </a:p>
        </p:txBody>
      </p:sp>
      <p:sp>
        <p:nvSpPr>
          <p:cNvPr id="20" name="TextBox 19"/>
          <p:cNvSpPr txBox="1"/>
          <p:nvPr/>
        </p:nvSpPr>
        <p:spPr>
          <a:xfrm>
            <a:off x="1000125" y="4610100"/>
            <a:ext cx="142875" cy="342900"/>
          </a:xfrm>
          <a:prstGeom prst="rect">
            <a:avLst/>
          </a:prstGeom>
          <a:noFill/>
        </p:spPr>
        <p:txBody>
          <a:bodyPr wrap="square" lIns="0" tIns="0" rIns="0" bIns="0" anchor="t">
            <a:spAutoFit/>
          </a:bodyPr>
          <a:lstStyle/>
          <a:p>
            <a:pPr algn="l"/>
            <a:r>
              <a:rPr sz="1800" b="0" i="0" u="none">
                <a:solidFill>
                  <a:srgbClr val="000000"/>
                </a:solidFill>
                <a:latin typeface="Calibri" panose="020F0502020204030204"/>
              </a:rPr>
              <a:t>○</a:t>
            </a:r>
            <a:endParaRPr sz="1800" b="0" i="0" u="none">
              <a:solidFill>
                <a:srgbClr val="000000"/>
              </a:solidFill>
              <a:latin typeface="Calibri" panose="020F0502020204030204"/>
            </a:endParaRPr>
          </a:p>
        </p:txBody>
      </p:sp>
      <p:sp>
        <p:nvSpPr>
          <p:cNvPr id="21" name="TextBox 20"/>
          <p:cNvSpPr txBox="1"/>
          <p:nvPr/>
        </p:nvSpPr>
        <p:spPr>
          <a:xfrm>
            <a:off x="1143000" y="4610100"/>
            <a:ext cx="10477500" cy="342900"/>
          </a:xfrm>
          <a:prstGeom prst="rect">
            <a:avLst/>
          </a:prstGeom>
          <a:noFill/>
        </p:spPr>
        <p:txBody>
          <a:bodyPr wrap="square" lIns="142875" tIns="0" rIns="0" bIns="0" anchor="t">
            <a:spAutoFit/>
          </a:bodyPr>
          <a:lstStyle/>
          <a:p>
            <a:pPr algn="l">
              <a:lnSpc>
                <a:spcPts val="2700"/>
              </a:lnSpc>
            </a:pPr>
            <a:r>
              <a:rPr sz="1800" b="1" i="0" u="none">
                <a:solidFill>
                  <a:srgbClr val="000000"/>
                </a:solidFill>
                <a:latin typeface="Calibri" panose="020F0502020204030204"/>
              </a:rPr>
              <a:t>Specificity:</a:t>
            </a:r>
            <a:r>
              <a:rPr sz="1800" b="0" i="0" u="none">
                <a:solidFill>
                  <a:srgbClr val="000000"/>
                </a:solidFill>
                <a:latin typeface="Calibri" panose="020F0502020204030204"/>
              </a:rPr>
              <a:t> How well the model identifies negative cases (healthy patients).</a:t>
            </a:r>
            <a:endParaRPr sz="1800" b="0" i="0" u="none">
              <a:solidFill>
                <a:srgbClr val="000000"/>
              </a:solidFill>
              <a:latin typeface="Calibri" panose="020F0502020204030204"/>
            </a:endParaRPr>
          </a:p>
        </p:txBody>
      </p:sp>
      <p:pic>
        <p:nvPicPr>
          <p:cNvPr id="22" name="Picture 21"/>
          <p:cNvPicPr>
            <a:picLocks noChangeAspect="1"/>
          </p:cNvPicPr>
          <p:nvPr/>
        </p:nvPicPr>
        <p:blipFill>
          <a:blip r:embed="rId1"/>
          <a:srcRect/>
          <a:stretch>
            <a:fillRect/>
          </a:stretch>
        </p:blipFill>
        <p:spPr>
          <a:xfrm>
            <a:off x="10436225" y="4762"/>
            <a:ext cx="1581150" cy="10572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tretch>
            <a:fillRect/>
          </a:stretch>
        </p:blipFill>
        <p:spPr>
          <a:xfrm>
            <a:off x="571500" y="4829175"/>
            <a:ext cx="3555950" cy="1095375"/>
          </a:xfrm>
          <a:prstGeom prst="rect">
            <a:avLst/>
          </a:prstGeom>
        </p:spPr>
      </p:pic>
      <p:pic>
        <p:nvPicPr>
          <p:cNvPr id="3" name="Picture 2" descr="image.png"/>
          <p:cNvPicPr>
            <a:picLocks noChangeAspect="1"/>
          </p:cNvPicPr>
          <p:nvPr/>
        </p:nvPicPr>
        <p:blipFill>
          <a:blip r:embed="rId2"/>
          <a:stretch>
            <a:fillRect/>
          </a:stretch>
        </p:blipFill>
        <p:spPr>
          <a:xfrm>
            <a:off x="4317950" y="4829175"/>
            <a:ext cx="3555950" cy="1095375"/>
          </a:xfrm>
          <a:prstGeom prst="rect">
            <a:avLst/>
          </a:prstGeom>
        </p:spPr>
      </p:pic>
      <p:pic>
        <p:nvPicPr>
          <p:cNvPr id="4" name="Picture 3" descr="image.png"/>
          <p:cNvPicPr>
            <a:picLocks noChangeAspect="1"/>
          </p:cNvPicPr>
          <p:nvPr/>
        </p:nvPicPr>
        <p:blipFill>
          <a:blip r:embed="rId3"/>
          <a:stretch>
            <a:fillRect/>
          </a:stretch>
        </p:blipFill>
        <p:spPr>
          <a:xfrm>
            <a:off x="8064400" y="4829175"/>
            <a:ext cx="3556099" cy="1095375"/>
          </a:xfrm>
          <a:prstGeom prst="rect">
            <a:avLst/>
          </a:prstGeom>
        </p:spPr>
      </p:pic>
      <p:sp>
        <p:nvSpPr>
          <p:cNvPr id="5" name="TextBox 4"/>
          <p:cNvSpPr txBox="1"/>
          <p:nvPr/>
        </p:nvSpPr>
        <p:spPr>
          <a:xfrm>
            <a:off x="571500" y="381000"/>
            <a:ext cx="3600762"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Model Comparison</a:t>
            </a:r>
            <a:endParaRPr sz="3000" b="1" i="0" u="none">
              <a:solidFill>
                <a:srgbClr val="4A154B"/>
              </a:solidFill>
              <a:latin typeface="Calibri" panose="020F0502020204030204"/>
            </a:endParaRPr>
          </a:p>
        </p:txBody>
      </p:sp>
      <p:sp>
        <p:nvSpPr>
          <p:cNvPr id="7" name="TextBox 6"/>
          <p:cNvSpPr txBox="1"/>
          <p:nvPr/>
        </p:nvSpPr>
        <p:spPr>
          <a:xfrm>
            <a:off x="571500" y="1095375"/>
            <a:ext cx="11049000" cy="266700"/>
          </a:xfrm>
          <a:prstGeom prst="rect">
            <a:avLst/>
          </a:prstGeom>
          <a:noFill/>
        </p:spPr>
        <p:txBody>
          <a:bodyPr wrap="square" lIns="0" tIns="0" rIns="0" bIns="0" anchor="t">
            <a:spAutoFit/>
          </a:bodyPr>
          <a:lstStyle/>
          <a:p>
            <a:pPr algn="l"/>
            <a:r>
              <a:rPr sz="1800" b="1" i="0" u="none">
                <a:solidFill>
                  <a:srgbClr val="000000"/>
                </a:solidFill>
                <a:latin typeface="Calibri" panose="020F0502020204030204"/>
              </a:rPr>
              <a:t>Tuned Model Results on Test Set (Accuracy):</a:t>
            </a:r>
            <a:endParaRPr sz="1800" b="1" i="0" u="none">
              <a:solidFill>
                <a:srgbClr val="000000"/>
              </a:solidFill>
              <a:latin typeface="Calibri" panose="020F0502020204030204"/>
            </a:endParaRPr>
          </a:p>
        </p:txBody>
      </p:sp>
      <p:graphicFrame>
        <p:nvGraphicFramePr>
          <p:cNvPr id="8" name="Table 7"/>
          <p:cNvGraphicFramePr>
            <a:graphicFrameLocks noGrp="1"/>
          </p:cNvGraphicFramePr>
          <p:nvPr/>
        </p:nvGraphicFramePr>
        <p:xfrm>
          <a:off x="1676400" y="1457325"/>
          <a:ext cx="8829673" cy="2533650"/>
        </p:xfrm>
        <a:graphic>
          <a:graphicData uri="http://schemas.openxmlformats.org/drawingml/2006/table">
            <a:tbl>
              <a:tblPr firstRow="1" bandRow="1">
                <a:tableStyleId>{5C22544A-7EE6-4342-B048-85BDC9FD1C3A}</a:tableStyleId>
              </a:tblPr>
              <a:tblGrid>
                <a:gridCol w="2957512"/>
                <a:gridCol w="2996207"/>
                <a:gridCol w="2875954"/>
              </a:tblGrid>
              <a:tr h="506730">
                <a:tc>
                  <a:txBody>
                    <a:bodyPr/>
                    <a:lstStyle/>
                    <a:p>
                      <a:pPr algn="ctr"/>
                      <a:r>
                        <a:rPr sz="1800" b="1" i="0" u="none">
                          <a:solidFill>
                            <a:srgbClr val="FFFFFF"/>
                          </a:solidFill>
                          <a:latin typeface="Calibri" panose="020F0502020204030204"/>
                        </a:rPr>
                        <a:t>Model</a:t>
                      </a:r>
                      <a:endParaRPr sz="1800" b="1" i="0" u="none">
                        <a:solidFill>
                          <a:srgbClr val="FFFFFF"/>
                        </a:solidFill>
                        <a:latin typeface="Calibri" panose="020F0502020204030204"/>
                      </a:endParaRPr>
                    </a:p>
                  </a:txBody>
                  <a:tcPr marL="63500" marR="63500" marT="25400" marB="25400" anchor="ctr">
                    <a:lnL>
                      <a:noFill/>
                    </a:lnL>
                    <a:lnR>
                      <a:noFill/>
                    </a:lnR>
                    <a:lnT>
                      <a:noFill/>
                    </a:lnT>
                    <a:lnB>
                      <a:noFill/>
                    </a:lnB>
                    <a:solidFill>
                      <a:srgbClr val="4A154B"/>
                    </a:solidFill>
                  </a:tcPr>
                </a:tc>
                <a:tc>
                  <a:txBody>
                    <a:bodyPr/>
                    <a:lstStyle/>
                    <a:p>
                      <a:pPr algn="ctr"/>
                      <a:r>
                        <a:rPr sz="1800" b="1" i="0" u="none">
                          <a:solidFill>
                            <a:srgbClr val="FFFFFF"/>
                          </a:solidFill>
                          <a:latin typeface="Calibri" panose="020F0502020204030204"/>
                        </a:rPr>
                        <a:t>Baseline Accuracy</a:t>
                      </a:r>
                      <a:endParaRPr sz="1800" b="1" i="0" u="none">
                        <a:solidFill>
                          <a:srgbClr val="FFFFFF"/>
                        </a:solidFill>
                        <a:latin typeface="Calibri" panose="020F0502020204030204"/>
                      </a:endParaRPr>
                    </a:p>
                  </a:txBody>
                  <a:tcPr marL="63500" marR="63500" marT="25400" marB="25400" anchor="ctr">
                    <a:lnL>
                      <a:noFill/>
                    </a:lnL>
                    <a:lnR>
                      <a:noFill/>
                    </a:lnR>
                    <a:lnT>
                      <a:noFill/>
                    </a:lnT>
                    <a:lnB>
                      <a:noFill/>
                    </a:lnB>
                    <a:solidFill>
                      <a:srgbClr val="4A154B"/>
                    </a:solidFill>
                  </a:tcPr>
                </a:tc>
                <a:tc>
                  <a:txBody>
                    <a:bodyPr/>
                    <a:lstStyle/>
                    <a:p>
                      <a:pPr algn="ctr"/>
                      <a:r>
                        <a:rPr sz="1800" b="1" i="0" u="none">
                          <a:solidFill>
                            <a:srgbClr val="FFFFFF"/>
                          </a:solidFill>
                          <a:latin typeface="Calibri" panose="020F0502020204030204"/>
                        </a:rPr>
                        <a:t>Tuned Accuracy</a:t>
                      </a:r>
                      <a:endParaRPr sz="1800" b="1" i="0" u="none">
                        <a:solidFill>
                          <a:srgbClr val="FFFFFF"/>
                        </a:solidFill>
                        <a:latin typeface="Calibri" panose="020F0502020204030204"/>
                      </a:endParaRPr>
                    </a:p>
                  </a:txBody>
                  <a:tcPr marL="63500" marR="63500" marT="25400" marB="25400" anchor="ctr">
                    <a:lnL>
                      <a:noFill/>
                    </a:lnL>
                    <a:lnR>
                      <a:noFill/>
                    </a:lnR>
                    <a:lnT>
                      <a:noFill/>
                    </a:lnT>
                    <a:lnB>
                      <a:noFill/>
                    </a:lnB>
                    <a:solidFill>
                      <a:srgbClr val="4A154B"/>
                    </a:solidFill>
                  </a:tcPr>
                </a:tc>
              </a:tr>
              <a:tr h="506730">
                <a:tc>
                  <a:txBody>
                    <a:bodyPr/>
                    <a:lstStyle/>
                    <a:p>
                      <a:pPr algn="ctr"/>
                      <a:r>
                        <a:rPr sz="1800" b="0" i="0" u="none">
                          <a:solidFill>
                            <a:srgbClr val="000000"/>
                          </a:solidFill>
                          <a:latin typeface="Calibri" panose="020F0502020204030204"/>
                        </a:rPr>
                        <a:t>Logistic Regression</a:t>
                      </a:r>
                      <a:endParaRPr sz="1800" b="0" i="0" u="none">
                        <a:solidFill>
                          <a:srgbClr val="000000"/>
                        </a:solidFill>
                        <a:latin typeface="Calibri" panose="020F0502020204030204"/>
                      </a:endParaRPr>
                    </a:p>
                  </a:txBody>
                  <a:tcPr marL="63500" marR="63500" marT="25400" marB="25400" anchor="ctr">
                    <a:lnL>
                      <a:noFill/>
                    </a:lnL>
                    <a:lnR>
                      <a:noFill/>
                    </a:lnR>
                    <a:lnT>
                      <a:noFill/>
                    </a:lnT>
                    <a:lnB>
                      <a:noFill/>
                    </a:lnB>
                    <a:solidFill>
                      <a:srgbClr val="F9F9F9"/>
                    </a:solidFill>
                  </a:tcPr>
                </a:tc>
                <a:tc>
                  <a:txBody>
                    <a:bodyPr/>
                    <a:lstStyle/>
                    <a:p>
                      <a:pPr algn="ctr"/>
                      <a:r>
                        <a:rPr sz="1800" b="0" i="0" u="none">
                          <a:solidFill>
                            <a:srgbClr val="000000"/>
                          </a:solidFill>
                          <a:latin typeface="Calibri" panose="020F0502020204030204"/>
                        </a:rPr>
                        <a:t>88.59%</a:t>
                      </a:r>
                      <a:endParaRPr sz="1800" b="0" i="0" u="none">
                        <a:solidFill>
                          <a:srgbClr val="000000"/>
                        </a:solidFill>
                        <a:latin typeface="Calibri" panose="020F0502020204030204"/>
                      </a:endParaRPr>
                    </a:p>
                  </a:txBody>
                  <a:tcPr marL="63500" marR="63500" marT="25400" marB="25400" anchor="ctr">
                    <a:lnL>
                      <a:noFill/>
                    </a:lnL>
                    <a:lnR>
                      <a:noFill/>
                    </a:lnR>
                    <a:lnT>
                      <a:noFill/>
                    </a:lnT>
                    <a:lnB>
                      <a:noFill/>
                    </a:lnB>
                    <a:solidFill>
                      <a:srgbClr val="F9F9F9"/>
                    </a:solidFill>
                  </a:tcPr>
                </a:tc>
                <a:tc>
                  <a:txBody>
                    <a:bodyPr/>
                    <a:lstStyle/>
                    <a:p>
                      <a:pPr algn="ctr"/>
                      <a:r>
                        <a:rPr sz="1800" b="0" i="0" u="none">
                          <a:solidFill>
                            <a:srgbClr val="000000"/>
                          </a:solidFill>
                          <a:latin typeface="Calibri" panose="020F0502020204030204"/>
                        </a:rPr>
                        <a:t>89.13%</a:t>
                      </a:r>
                      <a:endParaRPr sz="1800" b="0" i="0" u="none">
                        <a:solidFill>
                          <a:srgbClr val="000000"/>
                        </a:solidFill>
                        <a:latin typeface="Calibri" panose="020F0502020204030204"/>
                      </a:endParaRPr>
                    </a:p>
                  </a:txBody>
                  <a:tcPr marL="63500" marR="63500" marT="25400" marB="25400" anchor="ctr">
                    <a:lnL>
                      <a:noFill/>
                    </a:lnL>
                    <a:lnR>
                      <a:noFill/>
                    </a:lnR>
                    <a:lnT>
                      <a:noFill/>
                    </a:lnT>
                    <a:lnB>
                      <a:noFill/>
                    </a:lnB>
                    <a:solidFill>
                      <a:srgbClr val="F9F9F9"/>
                    </a:solidFill>
                  </a:tcPr>
                </a:tc>
              </a:tr>
              <a:tr h="506730">
                <a:tc>
                  <a:txBody>
                    <a:bodyPr/>
                    <a:lstStyle/>
                    <a:p>
                      <a:pPr algn="ctr"/>
                      <a:r>
                        <a:rPr sz="1800" b="1" i="0" u="none">
                          <a:solidFill>
                            <a:srgbClr val="000000"/>
                          </a:solidFill>
                          <a:latin typeface="Calibri" panose="020F0502020204030204"/>
                        </a:rPr>
                        <a:t>Random Forest</a:t>
                      </a:r>
                      <a:endParaRPr sz="1800" b="1" i="0" u="none">
                        <a:solidFill>
                          <a:srgbClr val="000000"/>
                        </a:solidFill>
                        <a:latin typeface="Calibri" panose="020F0502020204030204"/>
                      </a:endParaRPr>
                    </a:p>
                  </a:txBody>
                  <a:tcPr marL="63500" marR="63500" marT="25400" marB="25400" anchor="ctr">
                    <a:lnL>
                      <a:noFill/>
                    </a:lnL>
                    <a:lnR>
                      <a:noFill/>
                    </a:lnR>
                    <a:lnT>
                      <a:noFill/>
                    </a:lnT>
                    <a:lnB>
                      <a:noFill/>
                    </a:lnB>
                    <a:solidFill>
                      <a:srgbClr val="F0FDF4"/>
                    </a:solidFill>
                  </a:tcPr>
                </a:tc>
                <a:tc>
                  <a:txBody>
                    <a:bodyPr/>
                    <a:lstStyle/>
                    <a:p>
                      <a:pPr algn="ctr"/>
                      <a:r>
                        <a:rPr sz="1800" b="1" i="0" u="none">
                          <a:solidFill>
                            <a:srgbClr val="000000"/>
                          </a:solidFill>
                          <a:latin typeface="Calibri" panose="020F0502020204030204"/>
                        </a:rPr>
                        <a:t>88.04%</a:t>
                      </a:r>
                      <a:endParaRPr sz="1800" b="1" i="0" u="none">
                        <a:solidFill>
                          <a:srgbClr val="000000"/>
                        </a:solidFill>
                        <a:latin typeface="Calibri" panose="020F0502020204030204"/>
                      </a:endParaRPr>
                    </a:p>
                  </a:txBody>
                  <a:tcPr marL="63500" marR="63500" marT="25400" marB="25400" anchor="ctr">
                    <a:lnL>
                      <a:noFill/>
                    </a:lnL>
                    <a:lnR>
                      <a:noFill/>
                    </a:lnR>
                    <a:lnT>
                      <a:noFill/>
                    </a:lnT>
                    <a:lnB>
                      <a:noFill/>
                    </a:lnB>
                    <a:solidFill>
                      <a:srgbClr val="F0FDF4"/>
                    </a:solidFill>
                  </a:tcPr>
                </a:tc>
                <a:tc>
                  <a:txBody>
                    <a:bodyPr/>
                    <a:lstStyle/>
                    <a:p>
                      <a:pPr algn="ctr"/>
                      <a:r>
                        <a:rPr sz="1800" b="1" i="0" u="none">
                          <a:solidFill>
                            <a:srgbClr val="000000"/>
                          </a:solidFill>
                          <a:latin typeface="Calibri" panose="020F0502020204030204"/>
                        </a:rPr>
                        <a:t>88.59% (Selected)</a:t>
                      </a:r>
                      <a:endParaRPr sz="1800" b="1" i="0" u="none">
                        <a:solidFill>
                          <a:srgbClr val="000000"/>
                        </a:solidFill>
                        <a:latin typeface="Calibri" panose="020F0502020204030204"/>
                      </a:endParaRPr>
                    </a:p>
                  </a:txBody>
                  <a:tcPr marL="63500" marR="63500" marT="25400" marB="25400" anchor="ctr">
                    <a:lnL>
                      <a:noFill/>
                    </a:lnL>
                    <a:lnR>
                      <a:noFill/>
                    </a:lnR>
                    <a:lnT>
                      <a:noFill/>
                    </a:lnT>
                    <a:lnB>
                      <a:noFill/>
                    </a:lnB>
                    <a:solidFill>
                      <a:srgbClr val="F0FDF4"/>
                    </a:solidFill>
                  </a:tcPr>
                </a:tc>
              </a:tr>
              <a:tr h="506730">
                <a:tc>
                  <a:txBody>
                    <a:bodyPr/>
                    <a:lstStyle/>
                    <a:p>
                      <a:pPr algn="ctr"/>
                      <a:r>
                        <a:rPr sz="1800" b="0" i="0" u="none">
                          <a:solidFill>
                            <a:srgbClr val="000000"/>
                          </a:solidFill>
                          <a:latin typeface="Calibri" panose="020F0502020204030204"/>
                        </a:rPr>
                        <a:t>SVM</a:t>
                      </a:r>
                      <a:endParaRPr sz="1800" b="0" i="0" u="none">
                        <a:solidFill>
                          <a:srgbClr val="000000"/>
                        </a:solidFill>
                        <a:latin typeface="Calibri" panose="020F0502020204030204"/>
                      </a:endParaRPr>
                    </a:p>
                  </a:txBody>
                  <a:tcPr marL="63500" marR="63500" marT="25400" marB="25400" anchor="ctr">
                    <a:lnL>
                      <a:noFill/>
                    </a:lnL>
                    <a:lnR>
                      <a:noFill/>
                    </a:lnR>
                    <a:lnT>
                      <a:noFill/>
                    </a:lnT>
                    <a:lnB>
                      <a:noFill/>
                    </a:lnB>
                    <a:solidFill>
                      <a:srgbClr val="F9F9F9"/>
                    </a:solidFill>
                  </a:tcPr>
                </a:tc>
                <a:tc>
                  <a:txBody>
                    <a:bodyPr/>
                    <a:lstStyle/>
                    <a:p>
                      <a:pPr algn="ctr"/>
                      <a:r>
                        <a:rPr sz="1800" b="0" i="0" u="none">
                          <a:solidFill>
                            <a:srgbClr val="000000"/>
                          </a:solidFill>
                          <a:latin typeface="Calibri" panose="020F0502020204030204"/>
                        </a:rPr>
                        <a:t>86.96%</a:t>
                      </a:r>
                      <a:endParaRPr sz="1800" b="0" i="0" u="none">
                        <a:solidFill>
                          <a:srgbClr val="000000"/>
                        </a:solidFill>
                        <a:latin typeface="Calibri" panose="020F0502020204030204"/>
                      </a:endParaRPr>
                    </a:p>
                  </a:txBody>
                  <a:tcPr marL="63500" marR="63500" marT="25400" marB="25400" anchor="ctr">
                    <a:lnL>
                      <a:noFill/>
                    </a:lnL>
                    <a:lnR>
                      <a:noFill/>
                    </a:lnR>
                    <a:lnT>
                      <a:noFill/>
                    </a:lnT>
                    <a:lnB>
                      <a:noFill/>
                    </a:lnB>
                    <a:solidFill>
                      <a:srgbClr val="F9F9F9"/>
                    </a:solidFill>
                  </a:tcPr>
                </a:tc>
                <a:tc>
                  <a:txBody>
                    <a:bodyPr/>
                    <a:lstStyle/>
                    <a:p>
                      <a:pPr algn="ctr"/>
                      <a:r>
                        <a:rPr sz="1800" b="0" i="0" u="none">
                          <a:solidFill>
                            <a:srgbClr val="000000"/>
                          </a:solidFill>
                          <a:latin typeface="Calibri" panose="020F0502020204030204"/>
                        </a:rPr>
                        <a:t>86.41%</a:t>
                      </a:r>
                      <a:endParaRPr sz="1800" b="0" i="0" u="none">
                        <a:solidFill>
                          <a:srgbClr val="000000"/>
                        </a:solidFill>
                        <a:latin typeface="Calibri" panose="020F0502020204030204"/>
                      </a:endParaRPr>
                    </a:p>
                  </a:txBody>
                  <a:tcPr marL="63500" marR="63500" marT="25400" marB="25400" anchor="ctr">
                    <a:lnL>
                      <a:noFill/>
                    </a:lnL>
                    <a:lnR>
                      <a:noFill/>
                    </a:lnR>
                    <a:lnT>
                      <a:noFill/>
                    </a:lnT>
                    <a:lnB>
                      <a:noFill/>
                    </a:lnB>
                    <a:solidFill>
                      <a:srgbClr val="F9F9F9"/>
                    </a:solidFill>
                  </a:tcPr>
                </a:tc>
              </a:tr>
              <a:tr h="506730">
                <a:tc>
                  <a:txBody>
                    <a:bodyPr/>
                    <a:lstStyle/>
                    <a:p>
                      <a:pPr algn="ctr"/>
                      <a:r>
                        <a:rPr sz="1800" b="0" i="0" u="none">
                          <a:solidFill>
                            <a:srgbClr val="000000"/>
                          </a:solidFill>
                          <a:latin typeface="Calibri" panose="020F0502020204030204"/>
                        </a:rPr>
                        <a:t>Decision Tree</a:t>
                      </a:r>
                      <a:endParaRPr sz="1800" b="0" i="0" u="none">
                        <a:solidFill>
                          <a:srgbClr val="000000"/>
                        </a:solidFill>
                        <a:latin typeface="Calibri" panose="020F0502020204030204"/>
                      </a:endParaRPr>
                    </a:p>
                  </a:txBody>
                  <a:tcPr marL="63500" marR="63500" marT="25400" marB="25400" anchor="ctr">
                    <a:lnL>
                      <a:noFill/>
                    </a:lnL>
                    <a:lnR>
                      <a:noFill/>
                    </a:lnR>
                    <a:lnT>
                      <a:noFill/>
                    </a:lnT>
                    <a:lnB>
                      <a:noFill/>
                    </a:lnB>
                    <a:noFill/>
                  </a:tcPr>
                </a:tc>
                <a:tc>
                  <a:txBody>
                    <a:bodyPr/>
                    <a:lstStyle/>
                    <a:p>
                      <a:pPr algn="ctr"/>
                      <a:r>
                        <a:rPr sz="1800" b="0" i="0" u="none">
                          <a:solidFill>
                            <a:srgbClr val="000000"/>
                          </a:solidFill>
                          <a:latin typeface="Calibri" panose="020F0502020204030204"/>
                        </a:rPr>
                        <a:t>Lowest</a:t>
                      </a:r>
                      <a:endParaRPr sz="1800" b="0" i="0" u="none">
                        <a:solidFill>
                          <a:srgbClr val="000000"/>
                        </a:solidFill>
                        <a:latin typeface="Calibri" panose="020F0502020204030204"/>
                      </a:endParaRPr>
                    </a:p>
                  </a:txBody>
                  <a:tcPr marL="63500" marR="63500" marT="25400" marB="25400" anchor="ctr">
                    <a:lnL>
                      <a:noFill/>
                    </a:lnL>
                    <a:lnR>
                      <a:noFill/>
                    </a:lnR>
                    <a:lnT>
                      <a:noFill/>
                    </a:lnT>
                    <a:lnB>
                      <a:noFill/>
                    </a:lnB>
                    <a:noFill/>
                  </a:tcPr>
                </a:tc>
                <a:tc>
                  <a:txBody>
                    <a:bodyPr/>
                    <a:lstStyle/>
                    <a:p>
                      <a:pPr algn="ctr"/>
                      <a:r>
                        <a:rPr sz="1800" b="0" i="0" u="none">
                          <a:solidFill>
                            <a:srgbClr val="000000"/>
                          </a:solidFill>
                          <a:latin typeface="Calibri" panose="020F0502020204030204"/>
                        </a:rPr>
                        <a:t>82.07%</a:t>
                      </a:r>
                      <a:endParaRPr sz="1800" b="0" i="0" u="none">
                        <a:solidFill>
                          <a:srgbClr val="000000"/>
                        </a:solidFill>
                        <a:latin typeface="Calibri" panose="020F0502020204030204"/>
                      </a:endParaRPr>
                    </a:p>
                  </a:txBody>
                  <a:tcPr marL="63500" marR="63500" marT="25400" marB="25400" anchor="ctr">
                    <a:lnL>
                      <a:noFill/>
                    </a:lnL>
                    <a:lnR>
                      <a:noFill/>
                    </a:lnR>
                    <a:lnT>
                      <a:noFill/>
                    </a:lnT>
                    <a:lnB>
                      <a:noFill/>
                    </a:lnB>
                    <a:noFill/>
                  </a:tcPr>
                </a:tc>
              </a:tr>
            </a:tbl>
          </a:graphicData>
        </a:graphic>
      </p:graphicFrame>
      <p:sp>
        <p:nvSpPr>
          <p:cNvPr id="9" name="TextBox 8"/>
          <p:cNvSpPr txBox="1"/>
          <p:nvPr/>
        </p:nvSpPr>
        <p:spPr>
          <a:xfrm>
            <a:off x="571500" y="4276725"/>
            <a:ext cx="11049000" cy="266700"/>
          </a:xfrm>
          <a:prstGeom prst="rect">
            <a:avLst/>
          </a:prstGeom>
          <a:noFill/>
        </p:spPr>
        <p:txBody>
          <a:bodyPr wrap="square" lIns="0" tIns="0" rIns="0" bIns="0" anchor="t">
            <a:spAutoFit/>
          </a:bodyPr>
          <a:lstStyle/>
          <a:p>
            <a:pPr algn="ctr"/>
            <a:r>
              <a:rPr sz="1800" b="1" i="0" u="none">
                <a:solidFill>
                  <a:srgbClr val="4A154B"/>
                </a:solidFill>
                <a:latin typeface="Calibri" panose="020F0502020204030204"/>
              </a:rPr>
              <a:t>Selected Model: Tuned Random Forest</a:t>
            </a:r>
            <a:endParaRPr sz="1800" b="1" i="0" u="none">
              <a:solidFill>
                <a:srgbClr val="4A154B"/>
              </a:solidFill>
              <a:latin typeface="Calibri" panose="020F0502020204030204"/>
            </a:endParaRPr>
          </a:p>
        </p:txBody>
      </p:sp>
      <p:sp>
        <p:nvSpPr>
          <p:cNvPr id="10" name="TextBox 9"/>
          <p:cNvSpPr txBox="1"/>
          <p:nvPr/>
        </p:nvSpPr>
        <p:spPr>
          <a:xfrm>
            <a:off x="819150" y="5019675"/>
            <a:ext cx="3117800" cy="219075"/>
          </a:xfrm>
          <a:prstGeom prst="rect">
            <a:avLst/>
          </a:prstGeom>
          <a:noFill/>
        </p:spPr>
        <p:txBody>
          <a:bodyPr wrap="square" lIns="0" tIns="0" rIns="0" bIns="0" anchor="t">
            <a:spAutoFit/>
          </a:bodyPr>
          <a:lstStyle/>
          <a:p>
            <a:pPr algn="l"/>
            <a:r>
              <a:rPr sz="1500" b="0" i="0" u="none">
                <a:solidFill>
                  <a:srgbClr val="555555"/>
                </a:solidFill>
                <a:latin typeface="Calibri" panose="020F0502020204030204"/>
              </a:rPr>
              <a:t>Primary Metric: Recall</a:t>
            </a:r>
            <a:endParaRPr sz="1500" b="0" i="0" u="none">
              <a:solidFill>
                <a:srgbClr val="555555"/>
              </a:solidFill>
              <a:latin typeface="Calibri" panose="020F0502020204030204"/>
            </a:endParaRPr>
          </a:p>
        </p:txBody>
      </p:sp>
      <p:sp>
        <p:nvSpPr>
          <p:cNvPr id="11" name="TextBox 10"/>
          <p:cNvSpPr txBox="1"/>
          <p:nvPr/>
        </p:nvSpPr>
        <p:spPr>
          <a:xfrm>
            <a:off x="819150" y="5334000"/>
            <a:ext cx="3117800" cy="400050"/>
          </a:xfrm>
          <a:prstGeom prst="rect">
            <a:avLst/>
          </a:prstGeom>
          <a:noFill/>
        </p:spPr>
        <p:txBody>
          <a:bodyPr wrap="square" lIns="0" tIns="0" rIns="0" bIns="0" anchor="t">
            <a:spAutoFit/>
          </a:bodyPr>
          <a:lstStyle/>
          <a:p>
            <a:pPr algn="l"/>
            <a:r>
              <a:rPr sz="2700" b="1" i="0" u="none">
                <a:solidFill>
                  <a:srgbClr val="000000"/>
                </a:solidFill>
                <a:latin typeface="Calibri" panose="020F0502020204030204"/>
              </a:rPr>
              <a:t>93.14%</a:t>
            </a:r>
            <a:endParaRPr sz="2700" b="1" i="0" u="none">
              <a:solidFill>
                <a:srgbClr val="000000"/>
              </a:solidFill>
              <a:latin typeface="Calibri" panose="020F0502020204030204"/>
            </a:endParaRPr>
          </a:p>
        </p:txBody>
      </p:sp>
      <p:sp>
        <p:nvSpPr>
          <p:cNvPr id="12" name="TextBox 11"/>
          <p:cNvSpPr txBox="1"/>
          <p:nvPr/>
        </p:nvSpPr>
        <p:spPr>
          <a:xfrm>
            <a:off x="4565600" y="5019675"/>
            <a:ext cx="3117800" cy="219075"/>
          </a:xfrm>
          <a:prstGeom prst="rect">
            <a:avLst/>
          </a:prstGeom>
          <a:noFill/>
        </p:spPr>
        <p:txBody>
          <a:bodyPr wrap="square" lIns="0" tIns="0" rIns="0" bIns="0" anchor="t">
            <a:spAutoFit/>
          </a:bodyPr>
          <a:lstStyle/>
          <a:p>
            <a:pPr algn="l"/>
            <a:r>
              <a:rPr sz="1500" b="0" i="0" u="none">
                <a:solidFill>
                  <a:srgbClr val="555555"/>
                </a:solidFill>
                <a:latin typeface="Calibri" panose="020F0502020204030204"/>
              </a:rPr>
              <a:t>F1-Score</a:t>
            </a:r>
            <a:endParaRPr sz="1500" b="0" i="0" u="none">
              <a:solidFill>
                <a:srgbClr val="555555"/>
              </a:solidFill>
              <a:latin typeface="Calibri" panose="020F0502020204030204"/>
            </a:endParaRPr>
          </a:p>
        </p:txBody>
      </p:sp>
      <p:sp>
        <p:nvSpPr>
          <p:cNvPr id="13" name="TextBox 12"/>
          <p:cNvSpPr txBox="1"/>
          <p:nvPr/>
        </p:nvSpPr>
        <p:spPr>
          <a:xfrm>
            <a:off x="4565600" y="5334000"/>
            <a:ext cx="3117800" cy="400050"/>
          </a:xfrm>
          <a:prstGeom prst="rect">
            <a:avLst/>
          </a:prstGeom>
          <a:noFill/>
        </p:spPr>
        <p:txBody>
          <a:bodyPr wrap="square" lIns="0" tIns="0" rIns="0" bIns="0" anchor="t">
            <a:spAutoFit/>
          </a:bodyPr>
          <a:lstStyle/>
          <a:p>
            <a:pPr algn="l"/>
            <a:r>
              <a:rPr sz="2700" b="1" i="0" u="none">
                <a:solidFill>
                  <a:srgbClr val="000000"/>
                </a:solidFill>
                <a:latin typeface="Calibri" panose="020F0502020204030204"/>
              </a:rPr>
              <a:t>90.48%</a:t>
            </a:r>
            <a:endParaRPr sz="2700" b="1" i="0" u="none">
              <a:solidFill>
                <a:srgbClr val="000000"/>
              </a:solidFill>
              <a:latin typeface="Calibri" panose="020F0502020204030204"/>
            </a:endParaRPr>
          </a:p>
        </p:txBody>
      </p:sp>
      <p:sp>
        <p:nvSpPr>
          <p:cNvPr id="14" name="TextBox 13"/>
          <p:cNvSpPr txBox="1"/>
          <p:nvPr/>
        </p:nvSpPr>
        <p:spPr>
          <a:xfrm>
            <a:off x="8312050" y="5019675"/>
            <a:ext cx="3117949" cy="219075"/>
          </a:xfrm>
          <a:prstGeom prst="rect">
            <a:avLst/>
          </a:prstGeom>
          <a:noFill/>
        </p:spPr>
        <p:txBody>
          <a:bodyPr wrap="square" lIns="0" tIns="0" rIns="0" bIns="0" anchor="t">
            <a:spAutoFit/>
          </a:bodyPr>
          <a:lstStyle/>
          <a:p>
            <a:pPr algn="l"/>
            <a:r>
              <a:rPr sz="1500" b="0" i="0" u="none">
                <a:solidFill>
                  <a:srgbClr val="555555"/>
                </a:solidFill>
                <a:latin typeface="Calibri" panose="020F0502020204030204"/>
              </a:rPr>
              <a:t>ROC-AUC</a:t>
            </a:r>
            <a:endParaRPr sz="1500" b="0" i="0" u="none">
              <a:solidFill>
                <a:srgbClr val="555555"/>
              </a:solidFill>
              <a:latin typeface="Calibri" panose="020F0502020204030204"/>
            </a:endParaRPr>
          </a:p>
        </p:txBody>
      </p:sp>
      <p:sp>
        <p:nvSpPr>
          <p:cNvPr id="15" name="TextBox 14"/>
          <p:cNvSpPr txBox="1"/>
          <p:nvPr/>
        </p:nvSpPr>
        <p:spPr>
          <a:xfrm>
            <a:off x="8312050" y="5334000"/>
            <a:ext cx="3117949" cy="400050"/>
          </a:xfrm>
          <a:prstGeom prst="rect">
            <a:avLst/>
          </a:prstGeom>
          <a:noFill/>
        </p:spPr>
        <p:txBody>
          <a:bodyPr wrap="square" lIns="0" tIns="0" rIns="0" bIns="0" anchor="t">
            <a:spAutoFit/>
          </a:bodyPr>
          <a:lstStyle/>
          <a:p>
            <a:pPr algn="l"/>
            <a:r>
              <a:rPr sz="2700" b="1" i="0" u="none">
                <a:solidFill>
                  <a:srgbClr val="000000"/>
                </a:solidFill>
                <a:latin typeface="Calibri" panose="020F0502020204030204"/>
              </a:rPr>
              <a:t>93.01%</a:t>
            </a:r>
            <a:endParaRPr sz="2700" b="1" i="0" u="none">
              <a:solidFill>
                <a:srgbClr val="000000"/>
              </a:solidFill>
              <a:latin typeface="Calibri" panose="020F0502020204030204"/>
            </a:endParaRPr>
          </a:p>
        </p:txBody>
      </p:sp>
      <p:pic>
        <p:nvPicPr>
          <p:cNvPr id="16" name="Picture 15"/>
          <p:cNvPicPr>
            <a:picLocks noChangeAspect="1"/>
          </p:cNvPicPr>
          <p:nvPr/>
        </p:nvPicPr>
        <p:blipFill>
          <a:blip r:embed="rId4"/>
          <a:srcRect/>
          <a:stretch>
            <a:fillRect/>
          </a:stretch>
        </p:blipFill>
        <p:spPr>
          <a:xfrm>
            <a:off x="10334625" y="65722"/>
            <a:ext cx="1581150" cy="10572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8210401"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Stream API Deployment (Streamlit/FastAPI)</a:t>
            </a:r>
            <a:endParaRPr sz="3000" b="1" i="0" u="none">
              <a:solidFill>
                <a:srgbClr val="4A154B"/>
              </a:solidFill>
              <a:latin typeface="Calibri" panose="020F0502020204030204"/>
            </a:endParaRPr>
          </a:p>
        </p:txBody>
      </p:sp>
      <p:sp>
        <p:nvSpPr>
          <p:cNvPr id="4" name="TextBox 3"/>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5" name="TextBox 4"/>
          <p:cNvSpPr txBox="1"/>
          <p:nvPr/>
        </p:nvSpPr>
        <p:spPr>
          <a:xfrm>
            <a:off x="857250" y="1095375"/>
            <a:ext cx="1076325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We developed an interactive Streamlit app to deploy the Tuned Random Forest classifier.</a:t>
            </a:r>
            <a:endParaRPr sz="1950" b="0" i="0" u="none">
              <a:solidFill>
                <a:srgbClr val="000000"/>
              </a:solidFill>
              <a:latin typeface="Calibri" panose="020F0502020204030204"/>
            </a:endParaRPr>
          </a:p>
        </p:txBody>
      </p:sp>
      <p:sp>
        <p:nvSpPr>
          <p:cNvPr id="6" name="TextBox 5"/>
          <p:cNvSpPr txBox="1"/>
          <p:nvPr/>
        </p:nvSpPr>
        <p:spPr>
          <a:xfrm>
            <a:off x="771525" y="16097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7" name="TextBox 6"/>
          <p:cNvSpPr txBox="1"/>
          <p:nvPr/>
        </p:nvSpPr>
        <p:spPr>
          <a:xfrm>
            <a:off x="857250" y="1609725"/>
            <a:ext cx="10763250" cy="742950"/>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The app provides user-friendly input fields for patient clinical parameters such as Age, Cholesterol, Resting BP, and Chest Pain Type.</a:t>
            </a:r>
            <a:endParaRPr sz="1950" b="0" i="0" u="none">
              <a:solidFill>
                <a:srgbClr val="000000"/>
              </a:solidFill>
              <a:latin typeface="Calibri" panose="020F0502020204030204"/>
            </a:endParaRPr>
          </a:p>
        </p:txBody>
      </p:sp>
      <p:sp>
        <p:nvSpPr>
          <p:cNvPr id="8" name="TextBox 7"/>
          <p:cNvSpPr txBox="1"/>
          <p:nvPr/>
        </p:nvSpPr>
        <p:spPr>
          <a:xfrm>
            <a:off x="771525" y="249555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9" name="TextBox 8"/>
          <p:cNvSpPr txBox="1"/>
          <p:nvPr/>
        </p:nvSpPr>
        <p:spPr>
          <a:xfrm>
            <a:off x="857250" y="2495550"/>
            <a:ext cx="10763250" cy="742950"/>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Once inputs are given, the model generates predictions of heart disease risk (Probability Score) in real time.</a:t>
            </a:r>
            <a:endParaRPr sz="1950" b="0" i="0" u="none">
              <a:solidFill>
                <a:srgbClr val="000000"/>
              </a:solidFill>
              <a:latin typeface="Calibri" panose="020F0502020204030204"/>
            </a:endParaRPr>
          </a:p>
        </p:txBody>
      </p:sp>
      <p:sp>
        <p:nvSpPr>
          <p:cNvPr id="10" name="TextBox 9"/>
          <p:cNvSpPr txBox="1"/>
          <p:nvPr/>
        </p:nvSpPr>
        <p:spPr>
          <a:xfrm>
            <a:off x="771525" y="3381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1" name="TextBox 10"/>
          <p:cNvSpPr txBox="1"/>
          <p:nvPr/>
        </p:nvSpPr>
        <p:spPr>
          <a:xfrm>
            <a:off x="857250" y="3381375"/>
            <a:ext cx="10763250" cy="371475"/>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The interface is simple, making it easy for healthcare workers to use without technical expertise.</a:t>
            </a:r>
            <a:endParaRPr sz="1950" b="0" i="0" u="none">
              <a:solidFill>
                <a:srgbClr val="000000"/>
              </a:solidFill>
              <a:latin typeface="Calibri" panose="020F0502020204030204"/>
            </a:endParaRPr>
          </a:p>
        </p:txBody>
      </p:sp>
      <p:sp>
        <p:nvSpPr>
          <p:cNvPr id="12" name="TextBox 11"/>
          <p:cNvSpPr txBox="1"/>
          <p:nvPr/>
        </p:nvSpPr>
        <p:spPr>
          <a:xfrm>
            <a:off x="771525" y="38957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3" name="TextBox 12"/>
          <p:cNvSpPr txBox="1"/>
          <p:nvPr/>
        </p:nvSpPr>
        <p:spPr>
          <a:xfrm>
            <a:off x="857250" y="3895725"/>
            <a:ext cx="10763250" cy="742950"/>
          </a:xfrm>
          <a:prstGeom prst="rect">
            <a:avLst/>
          </a:prstGeom>
          <a:noFill/>
        </p:spPr>
        <p:txBody>
          <a:bodyPr wrap="square" lIns="85725" tIns="0" rIns="0" bIns="0" anchor="t">
            <a:spAutoFit/>
          </a:bodyPr>
          <a:lstStyle/>
          <a:p>
            <a:pPr algn="l">
              <a:lnSpc>
                <a:spcPts val="2925"/>
              </a:lnSpc>
            </a:pPr>
            <a:r>
              <a:rPr sz="1950" b="0" i="0" u="none">
                <a:solidFill>
                  <a:srgbClr val="000000"/>
                </a:solidFill>
                <a:latin typeface="Calibri" panose="020F0502020204030204"/>
              </a:rPr>
              <a:t>The application supports both </a:t>
            </a:r>
            <a:r>
              <a:rPr sz="1950" b="1" i="0" u="none">
                <a:solidFill>
                  <a:srgbClr val="000000"/>
                </a:solidFill>
                <a:latin typeface="Calibri" panose="020F0502020204030204"/>
              </a:rPr>
              <a:t>Single Patient Prediction</a:t>
            </a:r>
            <a:r>
              <a:rPr sz="1950" b="0" i="0" u="none">
                <a:solidFill>
                  <a:srgbClr val="000000"/>
                </a:solidFill>
                <a:latin typeface="Calibri" panose="020F0502020204030204"/>
              </a:rPr>
              <a:t> and </a:t>
            </a:r>
            <a:r>
              <a:rPr sz="1950" b="1" i="0" u="none">
                <a:solidFill>
                  <a:srgbClr val="000000"/>
                </a:solidFill>
                <a:latin typeface="Calibri" panose="020F0502020204030204"/>
              </a:rPr>
              <a:t>Bulk CSV Prediction</a:t>
            </a:r>
            <a:r>
              <a:rPr sz="1950" b="0" i="0" u="none">
                <a:solidFill>
                  <a:srgbClr val="000000"/>
                </a:solidFill>
                <a:latin typeface="Calibri" panose="020F0502020204030204"/>
              </a:rPr>
              <a:t> for processing multiple records at once.</a:t>
            </a:r>
            <a:endParaRPr sz="1950" b="0" i="0" u="none">
              <a:solidFill>
                <a:srgbClr val="000000"/>
              </a:solidFill>
              <a:latin typeface="Calibri" panose="020F0502020204030204"/>
            </a:endParaRPr>
          </a:p>
        </p:txBody>
      </p:sp>
      <p:pic>
        <p:nvPicPr>
          <p:cNvPr id="14" name="Picture 13"/>
          <p:cNvPicPr>
            <a:picLocks noChangeAspect="1"/>
          </p:cNvPicPr>
          <p:nvPr/>
        </p:nvPicPr>
        <p:blipFill>
          <a:blip r:embed="rId1"/>
          <a:srcRect/>
          <a:stretch>
            <a:fillRect/>
          </a:stretch>
        </p:blipFill>
        <p:spPr>
          <a:xfrm>
            <a:off x="10415905" y="4762"/>
            <a:ext cx="1581150" cy="1057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619760" y="666750"/>
            <a:ext cx="10922000" cy="5524500"/>
          </a:xfrm>
          <a:prstGeom prst="rect">
            <a:avLst/>
          </a:prstGeom>
        </p:spPr>
      </p:pic>
      <p:pic>
        <p:nvPicPr>
          <p:cNvPr id="4" name="Picture 3" descr="A logo with colorful dots&#10;&#10;AI-generated content may be incorrect."/>
          <p:cNvPicPr>
            <a:picLocks noChangeAspect="1"/>
          </p:cNvPicPr>
          <p:nvPr/>
        </p:nvPicPr>
        <p:blipFill>
          <a:blip r:embed="rId2"/>
          <a:srcRect/>
          <a:stretch>
            <a:fillRect/>
          </a:stretch>
        </p:blipFill>
        <p:spPr>
          <a:xfrm>
            <a:off x="10385425" y="-188278"/>
            <a:ext cx="1581150" cy="1057275"/>
          </a:xfrm>
          <a:prstGeom prst="rect">
            <a:avLst/>
          </a:prstGeom>
        </p:spPr>
      </p:pic>
      <p:sp>
        <p:nvSpPr>
          <p:cNvPr id="3" name="Text Box 2"/>
          <p:cNvSpPr txBox="1"/>
          <p:nvPr/>
        </p:nvSpPr>
        <p:spPr>
          <a:xfrm>
            <a:off x="989965" y="221615"/>
            <a:ext cx="2172970" cy="368300"/>
          </a:xfrm>
          <a:prstGeom prst="rect">
            <a:avLst/>
          </a:prstGeom>
          <a:noFill/>
        </p:spPr>
        <p:txBody>
          <a:bodyPr wrap="square" rtlCol="0">
            <a:spAutoFit/>
          </a:bodyPr>
          <a:p>
            <a:r>
              <a:rPr lang="en-IN" altLang="en-US"/>
              <a:t>Screenshots:</a:t>
            </a:r>
            <a:endParaRPr lang="en-I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logo with colorful dots&#10;&#10;AI-generated content may be incorrect."/>
          <p:cNvPicPr>
            <a:picLocks noChangeAspect="1"/>
          </p:cNvPicPr>
          <p:nvPr/>
        </p:nvPicPr>
        <p:blipFill>
          <a:blip r:embed="rId1"/>
          <a:srcRect/>
          <a:stretch>
            <a:fillRect/>
          </a:stretch>
        </p:blipFill>
        <p:spPr>
          <a:xfrm>
            <a:off x="10385425" y="-188278"/>
            <a:ext cx="1581150" cy="1057275"/>
          </a:xfrm>
          <a:prstGeom prst="rect">
            <a:avLst/>
          </a:prstGeom>
        </p:spPr>
      </p:pic>
      <p:pic>
        <p:nvPicPr>
          <p:cNvPr id="3" name="Picture 2"/>
          <p:cNvPicPr>
            <a:picLocks noChangeAspect="1"/>
          </p:cNvPicPr>
          <p:nvPr/>
        </p:nvPicPr>
        <p:blipFill>
          <a:blip r:embed="rId2"/>
          <a:stretch>
            <a:fillRect/>
          </a:stretch>
        </p:blipFill>
        <p:spPr>
          <a:xfrm>
            <a:off x="508000" y="720090"/>
            <a:ext cx="11176000" cy="55600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5357388"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Docker Deployment &amp; CI/CD</a:t>
            </a:r>
            <a:endParaRPr sz="3000" b="1" i="0" u="none">
              <a:solidFill>
                <a:srgbClr val="4A154B"/>
              </a:solidFill>
              <a:latin typeface="Calibri" panose="020F0502020204030204"/>
            </a:endParaRPr>
          </a:p>
        </p:txBody>
      </p:sp>
      <p:sp>
        <p:nvSpPr>
          <p:cNvPr id="4" name="TextBox 3"/>
          <p:cNvSpPr txBox="1"/>
          <p:nvPr/>
        </p:nvSpPr>
        <p:spPr>
          <a:xfrm>
            <a:off x="771525" y="10953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5" name="TextBox 4"/>
          <p:cNvSpPr txBox="1"/>
          <p:nvPr/>
        </p:nvSpPr>
        <p:spPr>
          <a:xfrm>
            <a:off x="857250" y="1095375"/>
            <a:ext cx="10763250" cy="3714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Create a Dockerfile</a:t>
            </a:r>
            <a:r>
              <a:rPr sz="1950" b="0" i="0" u="none">
                <a:solidFill>
                  <a:srgbClr val="000000"/>
                </a:solidFill>
                <a:latin typeface="Calibri" panose="020F0502020204030204"/>
              </a:rPr>
              <a:t> – Define the environment and instructions to containerize the application.</a:t>
            </a:r>
            <a:endParaRPr sz="1950" b="0" i="0" u="none">
              <a:solidFill>
                <a:srgbClr val="000000"/>
              </a:solidFill>
              <a:latin typeface="Calibri" panose="020F0502020204030204"/>
            </a:endParaRPr>
          </a:p>
        </p:txBody>
      </p:sp>
      <p:sp>
        <p:nvSpPr>
          <p:cNvPr id="6" name="TextBox 5"/>
          <p:cNvSpPr txBox="1"/>
          <p:nvPr/>
        </p:nvSpPr>
        <p:spPr>
          <a:xfrm>
            <a:off x="771525" y="160972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7" name="TextBox 6"/>
          <p:cNvSpPr txBox="1"/>
          <p:nvPr/>
        </p:nvSpPr>
        <p:spPr>
          <a:xfrm>
            <a:off x="857250" y="1609725"/>
            <a:ext cx="10763250" cy="742950"/>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Prepare requirements.txt</a:t>
            </a:r>
            <a:r>
              <a:rPr sz="1950" b="0" i="0" u="none">
                <a:solidFill>
                  <a:srgbClr val="000000"/>
                </a:solidFill>
                <a:latin typeface="Calibri" panose="020F0502020204030204"/>
              </a:rPr>
              <a:t> – List all necessary dependencies for the Streamlit/FastAPI application.</a:t>
            </a:r>
            <a:endParaRPr sz="1950" b="0" i="0" u="none">
              <a:solidFill>
                <a:srgbClr val="000000"/>
              </a:solidFill>
              <a:latin typeface="Calibri" panose="020F0502020204030204"/>
            </a:endParaRPr>
          </a:p>
        </p:txBody>
      </p:sp>
      <p:sp>
        <p:nvSpPr>
          <p:cNvPr id="8" name="TextBox 7"/>
          <p:cNvSpPr txBox="1"/>
          <p:nvPr/>
        </p:nvSpPr>
        <p:spPr>
          <a:xfrm>
            <a:off x="771525" y="249555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9" name="TextBox 8"/>
          <p:cNvSpPr txBox="1"/>
          <p:nvPr/>
        </p:nvSpPr>
        <p:spPr>
          <a:xfrm>
            <a:off x="857250" y="2495550"/>
            <a:ext cx="10763250" cy="3714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Set up docker-compose.yml</a:t>
            </a:r>
            <a:r>
              <a:rPr sz="1950" b="0" i="0" u="none">
                <a:solidFill>
                  <a:srgbClr val="000000"/>
                </a:solidFill>
                <a:latin typeface="Calibri" panose="020F0502020204030204"/>
              </a:rPr>
              <a:t> – Enable service deployment and orchestration.</a:t>
            </a:r>
            <a:endParaRPr sz="1950" b="0" i="0" u="none">
              <a:solidFill>
                <a:srgbClr val="000000"/>
              </a:solidFill>
              <a:latin typeface="Calibri" panose="020F0502020204030204"/>
            </a:endParaRPr>
          </a:p>
        </p:txBody>
      </p:sp>
      <p:sp>
        <p:nvSpPr>
          <p:cNvPr id="10" name="TextBox 9"/>
          <p:cNvSpPr txBox="1"/>
          <p:nvPr/>
        </p:nvSpPr>
        <p:spPr>
          <a:xfrm>
            <a:off x="771525" y="300990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1" name="TextBox 10"/>
          <p:cNvSpPr txBox="1"/>
          <p:nvPr/>
        </p:nvSpPr>
        <p:spPr>
          <a:xfrm>
            <a:off x="857250" y="3009900"/>
            <a:ext cx="10763250" cy="3714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Add .dockerignore</a:t>
            </a:r>
            <a:r>
              <a:rPr sz="1950" b="0" i="0" u="none">
                <a:solidFill>
                  <a:srgbClr val="000000"/>
                </a:solidFill>
                <a:latin typeface="Calibri" panose="020F0502020204030204"/>
              </a:rPr>
              <a:t> – Exclude unnecessary files to optimize the Docker build.</a:t>
            </a:r>
            <a:endParaRPr sz="1950" b="0" i="0" u="none">
              <a:solidFill>
                <a:srgbClr val="000000"/>
              </a:solidFill>
              <a:latin typeface="Calibri" panose="020F0502020204030204"/>
            </a:endParaRPr>
          </a:p>
        </p:txBody>
      </p:sp>
      <p:sp>
        <p:nvSpPr>
          <p:cNvPr id="12" name="TextBox 11"/>
          <p:cNvSpPr txBox="1"/>
          <p:nvPr/>
        </p:nvSpPr>
        <p:spPr>
          <a:xfrm>
            <a:off x="771525" y="3524250"/>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3" name="TextBox 12"/>
          <p:cNvSpPr txBox="1"/>
          <p:nvPr/>
        </p:nvSpPr>
        <p:spPr>
          <a:xfrm>
            <a:off x="857250" y="3524250"/>
            <a:ext cx="10763250" cy="742950"/>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GitHub Actions:</a:t>
            </a:r>
            <a:r>
              <a:rPr sz="1950" b="0" i="0" u="none">
                <a:solidFill>
                  <a:srgbClr val="000000"/>
                </a:solidFill>
                <a:latin typeface="Calibri" panose="020F0502020204030204"/>
              </a:rPr>
              <a:t> Implemented CI/CD pipeline to automatically build and publish the Docker image on code push.</a:t>
            </a:r>
            <a:endParaRPr sz="1950" b="0" i="0" u="none">
              <a:solidFill>
                <a:srgbClr val="000000"/>
              </a:solidFill>
              <a:latin typeface="Calibri" panose="020F0502020204030204"/>
            </a:endParaRPr>
          </a:p>
        </p:txBody>
      </p:sp>
      <p:sp>
        <p:nvSpPr>
          <p:cNvPr id="14" name="TextBox 13"/>
          <p:cNvSpPr txBox="1"/>
          <p:nvPr/>
        </p:nvSpPr>
        <p:spPr>
          <a:xfrm>
            <a:off x="771525" y="4410075"/>
            <a:ext cx="85725" cy="371475"/>
          </a:xfrm>
          <a:prstGeom prst="rect">
            <a:avLst/>
          </a:prstGeom>
          <a:noFill/>
        </p:spPr>
        <p:txBody>
          <a:bodyPr wrap="square" lIns="0" tIns="0" rIns="0" bIns="0" anchor="t">
            <a:spAutoFit/>
          </a:bodyPr>
          <a:lstStyle/>
          <a:p>
            <a:pPr algn="l"/>
            <a:r>
              <a:rPr sz="1950" b="0" i="0" u="none">
                <a:solidFill>
                  <a:srgbClr val="000000"/>
                </a:solidFill>
                <a:latin typeface="Calibri" panose="020F0502020204030204"/>
              </a:rPr>
              <a:t>•</a:t>
            </a:r>
            <a:endParaRPr sz="1950" b="0" i="0" u="none">
              <a:solidFill>
                <a:srgbClr val="000000"/>
              </a:solidFill>
              <a:latin typeface="Calibri" panose="020F0502020204030204"/>
            </a:endParaRPr>
          </a:p>
        </p:txBody>
      </p:sp>
      <p:sp>
        <p:nvSpPr>
          <p:cNvPr id="15" name="TextBox 14"/>
          <p:cNvSpPr txBox="1"/>
          <p:nvPr/>
        </p:nvSpPr>
        <p:spPr>
          <a:xfrm>
            <a:off x="857250" y="4410075"/>
            <a:ext cx="10763250" cy="371475"/>
          </a:xfrm>
          <a:prstGeom prst="rect">
            <a:avLst/>
          </a:prstGeom>
          <a:noFill/>
        </p:spPr>
        <p:txBody>
          <a:bodyPr wrap="square" lIns="85725" tIns="0" rIns="0" bIns="0" anchor="t">
            <a:spAutoFit/>
          </a:bodyPr>
          <a:lstStyle/>
          <a:p>
            <a:pPr algn="l">
              <a:lnSpc>
                <a:spcPts val="2925"/>
              </a:lnSpc>
            </a:pPr>
            <a:r>
              <a:rPr sz="1950" b="1" i="0" u="none">
                <a:solidFill>
                  <a:srgbClr val="000000"/>
                </a:solidFill>
                <a:latin typeface="Calibri" panose="020F0502020204030204"/>
              </a:rPr>
              <a:t>Docker Hub Image:</a:t>
            </a:r>
            <a:r>
              <a:rPr sz="1950" b="0" i="0" u="none">
                <a:solidFill>
                  <a:srgbClr val="000000"/>
                </a:solidFill>
                <a:latin typeface="Calibri" panose="020F0502020204030204"/>
              </a:rPr>
              <a:t> kiranbelsare/heart-disease-predictor:latest</a:t>
            </a:r>
            <a:endParaRPr sz="1950" b="0" i="0" u="none">
              <a:solidFill>
                <a:srgbClr val="000000"/>
              </a:solidFill>
              <a:latin typeface="Calibri" panose="020F0502020204030204"/>
            </a:endParaRPr>
          </a:p>
        </p:txBody>
      </p:sp>
      <p:pic>
        <p:nvPicPr>
          <p:cNvPr id="16" name="Picture 15"/>
          <p:cNvPicPr>
            <a:picLocks noChangeAspect="1"/>
          </p:cNvPicPr>
          <p:nvPr/>
        </p:nvPicPr>
        <p:blipFill>
          <a:blip r:embed="rId1"/>
          <a:srcRect/>
          <a:stretch>
            <a:fillRect/>
          </a:stretch>
        </p:blipFill>
        <p:spPr>
          <a:xfrm>
            <a:off x="10385425" y="4762"/>
            <a:ext cx="1581150" cy="10572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381000"/>
            <a:ext cx="2178084" cy="428625"/>
          </a:xfrm>
          <a:prstGeom prst="rect">
            <a:avLst/>
          </a:prstGeom>
          <a:noFill/>
        </p:spPr>
        <p:txBody>
          <a:bodyPr wrap="square" lIns="0" tIns="0" rIns="0" bIns="0" anchor="t">
            <a:spAutoFit/>
          </a:bodyPr>
          <a:lstStyle/>
          <a:p>
            <a:pPr algn="l"/>
            <a:r>
              <a:rPr sz="3000" b="1" i="0" u="none">
                <a:solidFill>
                  <a:srgbClr val="4A154B"/>
                </a:solidFill>
                <a:latin typeface="Calibri" panose="020F0502020204030204"/>
              </a:rPr>
              <a:t>Conclusion</a:t>
            </a:r>
            <a:endParaRPr sz="3000" b="1" i="0" u="none">
              <a:solidFill>
                <a:srgbClr val="4A154B"/>
              </a:solidFill>
              <a:latin typeface="Calibri" panose="020F0502020204030204"/>
            </a:endParaRPr>
          </a:p>
        </p:txBody>
      </p:sp>
      <p:sp>
        <p:nvSpPr>
          <p:cNvPr id="4" name="TextBox 3"/>
          <p:cNvSpPr txBox="1"/>
          <p:nvPr/>
        </p:nvSpPr>
        <p:spPr>
          <a:xfrm>
            <a:off x="571500" y="1095375"/>
            <a:ext cx="11049000" cy="1028700"/>
          </a:xfrm>
          <a:prstGeom prst="rect">
            <a:avLst/>
          </a:prstGeom>
          <a:noFill/>
        </p:spPr>
        <p:txBody>
          <a:bodyPr wrap="square" lIns="0" tIns="0" rIns="0" bIns="0" anchor="t">
            <a:spAutoFit/>
          </a:bodyPr>
          <a:lstStyle/>
          <a:p>
            <a:pPr algn="l">
              <a:lnSpc>
                <a:spcPts val="2700"/>
              </a:lnSpc>
            </a:pPr>
            <a:r>
              <a:rPr sz="1800" b="0" i="0" u="none">
                <a:solidFill>
                  <a:srgbClr val="000000"/>
                </a:solidFill>
                <a:latin typeface="Calibri" panose="020F0502020204030204"/>
              </a:rPr>
              <a:t>We built a Machine Learning classification system to predict heart disease risk using 13 clinical demographic and testing parameters. The project involved exploratory data analysis, data preprocessing (scaling and splitting), and model training across 4 classification algorithms.</a:t>
            </a:r>
            <a:endParaRPr sz="1800" b="0" i="0" u="none">
              <a:solidFill>
                <a:srgbClr val="000000"/>
              </a:solidFill>
              <a:latin typeface="Calibri" panose="020F0502020204030204"/>
            </a:endParaRPr>
          </a:p>
        </p:txBody>
      </p:sp>
      <p:sp>
        <p:nvSpPr>
          <p:cNvPr id="5" name="TextBox 4"/>
          <p:cNvSpPr txBox="1"/>
          <p:nvPr/>
        </p:nvSpPr>
        <p:spPr>
          <a:xfrm>
            <a:off x="571500" y="2266950"/>
            <a:ext cx="11049000" cy="1371600"/>
          </a:xfrm>
          <a:prstGeom prst="rect">
            <a:avLst/>
          </a:prstGeom>
          <a:noFill/>
        </p:spPr>
        <p:txBody>
          <a:bodyPr wrap="square" lIns="0" tIns="0" rIns="0" bIns="0" anchor="t">
            <a:spAutoFit/>
          </a:bodyPr>
          <a:lstStyle/>
          <a:p>
            <a:pPr algn="l">
              <a:lnSpc>
                <a:spcPts val="2700"/>
              </a:lnSpc>
            </a:pPr>
            <a:r>
              <a:rPr sz="1800" b="0" i="0" u="none">
                <a:solidFill>
                  <a:srgbClr val="000000"/>
                </a:solidFill>
                <a:latin typeface="Calibri" panose="020F0502020204030204"/>
              </a:rPr>
              <a:t>Evaluated using metrics such as Recall, F1-Score, and ROC-AUC, a Tuned Random Forest was selected and optimized via threshold tuning to achieve a 93.14% Recall rate. The trained model was deployed via a Streamlit interface and containerized with Docker for seamless production-ready deployment. Overall, the project demonstrates an end-to-end data science workflow with practical healthcare screening applications.</a:t>
            </a:r>
            <a:endParaRPr sz="1800" b="0" i="0" u="none">
              <a:solidFill>
                <a:srgbClr val="000000"/>
              </a:solidFill>
              <a:latin typeface="Calibri" panose="020F0502020204030204"/>
            </a:endParaRPr>
          </a:p>
        </p:txBody>
      </p:sp>
      <p:sp>
        <p:nvSpPr>
          <p:cNvPr id="6" name="TextBox 5"/>
          <p:cNvSpPr txBox="1"/>
          <p:nvPr/>
        </p:nvSpPr>
        <p:spPr>
          <a:xfrm>
            <a:off x="571500" y="3971925"/>
            <a:ext cx="11049000" cy="219075"/>
          </a:xfrm>
          <a:prstGeom prst="rect">
            <a:avLst/>
          </a:prstGeom>
          <a:noFill/>
        </p:spPr>
        <p:txBody>
          <a:bodyPr wrap="square" lIns="0" tIns="0" rIns="0" bIns="0" anchor="t">
            <a:spAutoFit/>
          </a:bodyPr>
          <a:lstStyle/>
          <a:p>
            <a:pPr algn="ctr"/>
            <a:r>
              <a:rPr sz="1500" b="0" i="1" u="none">
                <a:solidFill>
                  <a:srgbClr val="555555"/>
                </a:solidFill>
                <a:latin typeface="Calibri" panose="020F0502020204030204"/>
              </a:rPr>
              <a:t>Educational project only — not intended for medical diagnosis or to replace professional medical advice.</a:t>
            </a:r>
            <a:endParaRPr sz="1500" b="0" i="1" u="none">
              <a:solidFill>
                <a:srgbClr val="555555"/>
              </a:solidFill>
              <a:latin typeface="Calibri" panose="020F0502020204030204"/>
            </a:endParaRPr>
          </a:p>
        </p:txBody>
      </p:sp>
      <p:pic>
        <p:nvPicPr>
          <p:cNvPr id="7" name="Picture 6"/>
          <p:cNvPicPr>
            <a:picLocks noChangeAspect="1"/>
          </p:cNvPicPr>
          <p:nvPr/>
        </p:nvPicPr>
        <p:blipFill>
          <a:blip r:embed="rId1"/>
          <a:srcRect/>
          <a:stretch>
            <a:fillRect/>
          </a:stretch>
        </p:blipFill>
        <p:spPr>
          <a:xfrm>
            <a:off x="10385425" y="4762"/>
            <a:ext cx="1581150" cy="1057275"/>
          </a:xfrm>
          <a:prstGeom prst="rect">
            <a:avLst/>
          </a:prstGeom>
        </p:spPr>
      </p:pic>
      <p:sp>
        <p:nvSpPr>
          <p:cNvPr id="3" name="Text Box 2"/>
          <p:cNvSpPr txBox="1"/>
          <p:nvPr/>
        </p:nvSpPr>
        <p:spPr>
          <a:xfrm>
            <a:off x="3939540" y="6038850"/>
            <a:ext cx="3737610" cy="361950"/>
          </a:xfrm>
          <a:prstGeom prst="rect">
            <a:avLst/>
          </a:prstGeom>
          <a:noFill/>
        </p:spPr>
        <p:txBody>
          <a:bodyPr wrap="square" rtlCol="0">
            <a:noAutofit/>
          </a:bodyPr>
          <a:p>
            <a:endParaRPr lang="en-US" altLang="en-US" sz="15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695231" y="2900362"/>
            <a:ext cx="4801537" cy="657225"/>
          </a:xfrm>
          <a:prstGeom prst="rect">
            <a:avLst/>
          </a:prstGeom>
          <a:noFill/>
        </p:spPr>
        <p:txBody>
          <a:bodyPr wrap="square" lIns="0" tIns="0" rIns="0" bIns="0" anchor="t">
            <a:spAutoFit/>
          </a:bodyPr>
          <a:lstStyle/>
          <a:p>
            <a:pPr algn="ctr"/>
            <a:r>
              <a:rPr sz="4500" b="1" i="0" u="none">
                <a:solidFill>
                  <a:srgbClr val="4A154B"/>
                </a:solidFill>
                <a:latin typeface="Calibri" panose="020F0502020204030204"/>
              </a:rPr>
              <a:t>Any Queries ???</a:t>
            </a:r>
            <a:endParaRPr sz="4500" b="1" i="0" u="none">
              <a:solidFill>
                <a:srgbClr val="4A154B"/>
              </a:solidFill>
              <a:latin typeface="Calibri" panose="020F0502020204030204"/>
            </a:endParaRPr>
          </a:p>
        </p:txBody>
      </p:sp>
      <p:sp>
        <p:nvSpPr>
          <p:cNvPr id="4" name="TextBox 3"/>
          <p:cNvSpPr txBox="1"/>
          <p:nvPr/>
        </p:nvSpPr>
        <p:spPr>
          <a:xfrm>
            <a:off x="5428654" y="3748087"/>
            <a:ext cx="1334690" cy="304800"/>
          </a:xfrm>
          <a:prstGeom prst="rect">
            <a:avLst/>
          </a:prstGeom>
          <a:noFill/>
        </p:spPr>
        <p:txBody>
          <a:bodyPr wrap="square" lIns="0" tIns="0" rIns="0" bIns="0" anchor="t">
            <a:spAutoFit/>
          </a:bodyPr>
          <a:lstStyle/>
          <a:p>
            <a:pPr algn="ctr"/>
            <a:r>
              <a:rPr sz="2100" b="0" i="0" u="none">
                <a:solidFill>
                  <a:srgbClr val="333333"/>
                </a:solidFill>
                <a:latin typeface="Calibri" panose="020F0502020204030204"/>
              </a:rPr>
              <a:t>Thank You!</a:t>
            </a:r>
            <a:endParaRPr sz="2100" b="0" i="0" u="none">
              <a:solidFill>
                <a:srgbClr val="333333"/>
              </a:solidFill>
              <a:latin typeface="Calibri" panose="020F0502020204030204"/>
            </a:endParaRPr>
          </a:p>
        </p:txBody>
      </p:sp>
      <p:pic>
        <p:nvPicPr>
          <p:cNvPr id="5" name="Picture 4"/>
          <p:cNvPicPr>
            <a:picLocks noChangeAspect="1"/>
          </p:cNvPicPr>
          <p:nvPr/>
        </p:nvPicPr>
        <p:blipFill>
          <a:blip r:embed="rId1"/>
          <a:srcRect/>
          <a:stretch>
            <a:fillRect/>
          </a:stretch>
        </p:blipFill>
        <p:spPr>
          <a:xfrm>
            <a:off x="10405745" y="4762"/>
            <a:ext cx="1581150" cy="10572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7713</Words>
  <Application>WPS Presentation</Application>
  <PresentationFormat>Widescreen</PresentationFormat>
  <Paragraphs>420</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Arial</vt:lpstr>
      <vt:lpstr>Calibri</vt:lpstr>
      <vt:lpstr>Times New Roman</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JANHAVI DHANAWADE</cp:lastModifiedBy>
  <cp:revision>72</cp:revision>
  <dcterms:created xsi:type="dcterms:W3CDTF">2013-01-27T09:14:00Z</dcterms:created>
  <dcterms:modified xsi:type="dcterms:W3CDTF">2026-08-13T16:32:57Z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F7279D7D750C4022A3D66D5079744461_13</vt:lpwstr>
  </property>
  <property fmtid="{D5CDD505-2E9C-101B-9397-08002B2CF9AE}" pid="3" name="KSOProductBuildVer">
    <vt:lpwstr>1033-12.1.0.28032</vt:lpwstr>
  </property>
</Properties>
</file>
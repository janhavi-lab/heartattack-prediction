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0" name="Google Shape;90;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6" name="Google Shape;96;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 name="Shape 106"/>
        <p:cNvGrpSpPr/>
        <p:nvPr/>
      </p:nvGrpSpPr>
      <p:grpSpPr>
        <a:xfrm>
          <a:off x="0" y="0"/>
          <a:ext cx="0" cy="0"/>
          <a:chOff x="0" y="0"/>
          <a:chExt cx="0" cy="0"/>
        </a:xfrm>
      </p:grpSpPr>
      <p:sp>
        <p:nvSpPr>
          <p:cNvPr id="107" name="Google Shape;107;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8" name="Google Shape;108;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113"/>
        <p:cNvGrpSpPr/>
        <p:nvPr/>
      </p:nvGrpSpPr>
      <p:grpSpPr>
        <a:xfrm>
          <a:off x="0" y="0"/>
          <a:ext cx="0" cy="0"/>
          <a:chOff x="0" y="0"/>
          <a:chExt cx="0" cy="0"/>
        </a:xfrm>
      </p:grpSpPr>
      <p:sp>
        <p:nvSpPr>
          <p:cNvPr id="114" name="Google Shape;114;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5" name="Google Shape;115;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2" name="Google Shape;122;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7" name="Shape 127"/>
        <p:cNvGrpSpPr/>
        <p:nvPr/>
      </p:nvGrpSpPr>
      <p:grpSpPr>
        <a:xfrm>
          <a:off x="0" y="0"/>
          <a:ext cx="0" cy="0"/>
          <a:chOff x="0" y="0"/>
          <a:chExt cx="0" cy="0"/>
        </a:xfrm>
      </p:grpSpPr>
      <p:sp>
        <p:nvSpPr>
          <p:cNvPr id="128" name="Google Shape;128;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9" name="Google Shape;129;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6" name="Google Shape;136;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g38cdb4fd196_2_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3" name="Google Shape;143;g38cdb4fd196_2_2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 name="Shape 148"/>
        <p:cNvGrpSpPr/>
        <p:nvPr/>
      </p:nvGrpSpPr>
      <p:grpSpPr>
        <a:xfrm>
          <a:off x="0" y="0"/>
          <a:ext cx="0" cy="0"/>
          <a:chOff x="0" y="0"/>
          <a:chExt cx="0" cy="0"/>
        </a:xfrm>
      </p:grpSpPr>
      <p:sp>
        <p:nvSpPr>
          <p:cNvPr id="149" name="Google Shape;149;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0" name="Google Shape;150;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4" name="Shape 154"/>
        <p:cNvGrpSpPr/>
        <p:nvPr/>
      </p:nvGrpSpPr>
      <p:grpSpPr>
        <a:xfrm>
          <a:off x="0" y="0"/>
          <a:ext cx="0" cy="0"/>
          <a:chOff x="0" y="0"/>
          <a:chExt cx="0" cy="0"/>
        </a:xfrm>
      </p:grpSpPr>
      <p:sp>
        <p:nvSpPr>
          <p:cNvPr id="155" name="Google Shape;155;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6" name="Google Shape;156;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2" name="Google Shape;162;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p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8" name="Google Shape;168;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 name="Shape 11"/>
        <p:cNvGrpSpPr/>
        <p:nvPr/>
      </p:nvGrpSpPr>
      <p:grpSpPr>
        <a:xfrm>
          <a:off x="0" y="0"/>
          <a:ext cx="0" cy="0"/>
          <a:chOff x="0" y="0"/>
          <a:chExt cx="0" cy="0"/>
        </a:xfrm>
      </p:grpSpPr>
      <p:sp>
        <p:nvSpPr>
          <p:cNvPr id="12" name="Google Shape;12;p16"/>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6"/>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7" name="Shape 17"/>
        <p:cNvGrpSpPr/>
        <p:nvPr/>
      </p:nvGrpSpPr>
      <p:grpSpPr>
        <a:xfrm>
          <a:off x="0" y="0"/>
          <a:ext cx="0" cy="0"/>
          <a:chOff x="0" y="0"/>
          <a:chExt cx="0" cy="0"/>
        </a:xfrm>
      </p:grpSpPr>
      <p:sp>
        <p:nvSpPr>
          <p:cNvPr id="18" name="Google Shape;18;p1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7"/>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1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3" name="Shape 23"/>
        <p:cNvGrpSpPr/>
        <p:nvPr/>
      </p:nvGrpSpPr>
      <p:grpSpPr>
        <a:xfrm>
          <a:off x="0" y="0"/>
          <a:ext cx="0" cy="0"/>
          <a:chOff x="0" y="0"/>
          <a:chExt cx="0" cy="0"/>
        </a:xfrm>
      </p:grpSpPr>
      <p:sp>
        <p:nvSpPr>
          <p:cNvPr id="24" name="Google Shape;24;p18"/>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8"/>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9" name="Shape 29"/>
        <p:cNvGrpSpPr/>
        <p:nvPr/>
      </p:nvGrpSpPr>
      <p:grpSpPr>
        <a:xfrm>
          <a:off x="0" y="0"/>
          <a:ext cx="0" cy="0"/>
          <a:chOff x="0" y="0"/>
          <a:chExt cx="0" cy="0"/>
        </a:xfrm>
      </p:grpSpPr>
      <p:sp>
        <p:nvSpPr>
          <p:cNvPr id="30" name="Google Shape;30;p19"/>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9"/>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19"/>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1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6" name="Shape 36"/>
        <p:cNvGrpSpPr/>
        <p:nvPr/>
      </p:nvGrpSpPr>
      <p:grpSpPr>
        <a:xfrm>
          <a:off x="0" y="0"/>
          <a:ext cx="0" cy="0"/>
          <a:chOff x="0" y="0"/>
          <a:chExt cx="0" cy="0"/>
        </a:xfrm>
      </p:grpSpPr>
      <p:sp>
        <p:nvSpPr>
          <p:cNvPr id="37" name="Google Shape;37;p20"/>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0"/>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0"/>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0"/>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0"/>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5" name="Shape 45"/>
        <p:cNvGrpSpPr/>
        <p:nvPr/>
      </p:nvGrpSpPr>
      <p:grpSpPr>
        <a:xfrm>
          <a:off x="0" y="0"/>
          <a:ext cx="0" cy="0"/>
          <a:chOff x="0" y="0"/>
          <a:chExt cx="0" cy="0"/>
        </a:xfrm>
      </p:grpSpPr>
      <p:sp>
        <p:nvSpPr>
          <p:cNvPr id="46" name="Google Shape;46;p2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0" name="Shape 50"/>
        <p:cNvGrpSpPr/>
        <p:nvPr/>
      </p:nvGrpSpPr>
      <p:grpSpPr>
        <a:xfrm>
          <a:off x="0" y="0"/>
          <a:ext cx="0" cy="0"/>
          <a:chOff x="0" y="0"/>
          <a:chExt cx="0" cy="0"/>
        </a:xfrm>
      </p:grpSpPr>
      <p:sp>
        <p:nvSpPr>
          <p:cNvPr id="51" name="Google Shape;51;p2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3"/>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type="pic" idx="2"/>
          </p:nvPr>
        </p:nvSpPr>
        <p:spPr>
          <a:xfrm>
            <a:off x="5183188" y="987425"/>
            <a:ext cx="6172200" cy="4873625"/>
          </a:xfrm>
          <a:prstGeom prst="rect">
            <a:avLst/>
          </a:prstGeom>
          <a:noFill/>
          <a:ln>
            <a:noFill/>
          </a:ln>
        </p:spPr>
      </p:sp>
      <p:sp>
        <p:nvSpPr>
          <p:cNvPr id="64" name="Google Shape;64;p24"/>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2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2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2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2870212"/>
            <a:ext cx="9144000" cy="1654500"/>
          </a:xfrm>
          <a:prstGeom prst="rect">
            <a:avLst/>
          </a:prstGeom>
          <a:noFill/>
          <a:ln>
            <a:noFill/>
          </a:ln>
        </p:spPr>
        <p:txBody>
          <a:bodyPr spcFirstLastPara="1" wrap="square" lIns="91425" tIns="45700" rIns="91425" bIns="45700" anchor="b" anchorCtr="0">
            <a:noAutofit/>
          </a:bodyPr>
          <a:lstStyle/>
          <a:p>
            <a:pPr marL="0" lvl="0" indent="0" algn="ctr" rtl="0">
              <a:lnSpc>
                <a:spcPct val="200000"/>
              </a:lnSpc>
              <a:spcBef>
                <a:spcPts val="0"/>
              </a:spcBef>
              <a:spcAft>
                <a:spcPts val="0"/>
              </a:spcAft>
              <a:buClr>
                <a:srgbClr val="0C3571"/>
              </a:buClr>
              <a:buSzPts val="2800"/>
              <a:buFont typeface="Anta"/>
              <a:buNone/>
            </a:pPr>
            <a:br>
              <a:rPr lang="en-IN" sz="2800" b="1">
                <a:solidFill>
                  <a:srgbClr val="0C3571"/>
                </a:solidFill>
                <a:latin typeface="Anta"/>
                <a:ea typeface="Anta"/>
                <a:cs typeface="Anta"/>
                <a:sym typeface="Anta"/>
              </a:rPr>
            </a:br>
            <a:br>
              <a:rPr lang="en-IN" sz="2800" b="1">
                <a:solidFill>
                  <a:srgbClr val="0C3571"/>
                </a:solidFill>
                <a:latin typeface="Anta"/>
                <a:ea typeface="Anta"/>
                <a:cs typeface="Anta"/>
                <a:sym typeface="Anta"/>
              </a:rPr>
            </a:br>
            <a:br>
              <a:rPr lang="en-IN" sz="2800" b="1">
                <a:solidFill>
                  <a:srgbClr val="0C3571"/>
                </a:solidFill>
                <a:latin typeface="Anta"/>
                <a:ea typeface="Anta"/>
                <a:cs typeface="Anta"/>
                <a:sym typeface="Anta"/>
              </a:rPr>
            </a:br>
            <a:br>
              <a:rPr lang="en-IN" sz="2800" b="1">
                <a:solidFill>
                  <a:srgbClr val="0C3571"/>
                </a:solidFill>
                <a:latin typeface="Anta"/>
                <a:ea typeface="Anta"/>
                <a:cs typeface="Anta"/>
                <a:sym typeface="Anta"/>
              </a:rPr>
            </a:br>
            <a:br>
              <a:rPr lang="en-IN" sz="2800" b="1">
                <a:solidFill>
                  <a:srgbClr val="0C3571"/>
                </a:solidFill>
                <a:latin typeface="Anta"/>
                <a:ea typeface="Anta"/>
                <a:cs typeface="Anta"/>
                <a:sym typeface="Anta"/>
              </a:rPr>
            </a:br>
            <a:r>
              <a:rPr lang="en-IN" sz="4400" b="1">
                <a:solidFill>
                  <a:srgbClr val="0C3571"/>
                </a:solidFill>
                <a:latin typeface="Times New Roman" panose="02020603050405020304"/>
                <a:ea typeface="Times New Roman" panose="02020603050405020304"/>
                <a:cs typeface="Times New Roman" panose="02020603050405020304"/>
                <a:sym typeface="Times New Roman" panose="02020603050405020304"/>
              </a:rPr>
              <a:t>Capstone Project 1 </a:t>
            </a:r>
            <a:br>
              <a:rPr lang="en-IN" sz="4400" b="1">
                <a:solidFill>
                  <a:srgbClr val="0C3571"/>
                </a:solidFill>
                <a:latin typeface="Times New Roman" panose="02020603050405020304"/>
                <a:ea typeface="Times New Roman" panose="02020603050405020304"/>
                <a:cs typeface="Times New Roman" panose="02020603050405020304"/>
                <a:sym typeface="Times New Roman" panose="02020603050405020304"/>
              </a:rPr>
            </a:br>
            <a:r>
              <a:rPr lang="en-IN" sz="2400" b="1">
                <a:solidFill>
                  <a:srgbClr val="0C3571"/>
                </a:solidFill>
                <a:latin typeface="Times New Roman" panose="02020603050405020304"/>
                <a:ea typeface="Times New Roman" panose="02020603050405020304"/>
                <a:cs typeface="Times New Roman" panose="02020603050405020304"/>
                <a:sym typeface="Times New Roman" panose="02020603050405020304"/>
              </a:rPr>
              <a:t>MANUFACTURING  EQUIPMENT  OUTPUT PREDICTION  WITH  LINEAR  REGRESSION</a:t>
            </a:r>
            <a:endParaRPr sz="2400" b="1">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200000"/>
              </a:lnSpc>
              <a:spcBef>
                <a:spcPts val="0"/>
              </a:spcBef>
              <a:spcAft>
                <a:spcPts val="0"/>
              </a:spcAft>
              <a:buClr>
                <a:srgbClr val="0C3571"/>
              </a:buClr>
              <a:buSzPts val="2800"/>
              <a:buFont typeface="Anta"/>
              <a:buNone/>
            </a:pPr>
            <a:endParaRPr sz="2300" b="1">
              <a:solidFill>
                <a:srgbClr val="0C3571"/>
              </a:solidFill>
              <a:latin typeface="Arial" panose="020B0604020202020204"/>
              <a:ea typeface="Arial" panose="020B0604020202020204"/>
              <a:cs typeface="Arial" panose="020B0604020202020204"/>
              <a:sym typeface="Arial" panose="020B0604020202020204"/>
            </a:endParaRPr>
          </a:p>
          <a:p>
            <a:pPr marL="0" lvl="0" indent="0" algn="ctr" rtl="0">
              <a:lnSpc>
                <a:spcPct val="200000"/>
              </a:lnSpc>
              <a:spcBef>
                <a:spcPts val="0"/>
              </a:spcBef>
              <a:spcAft>
                <a:spcPts val="0"/>
              </a:spcAft>
              <a:buClr>
                <a:srgbClr val="0C3571"/>
              </a:buClr>
              <a:buSzPts val="2800"/>
              <a:buFont typeface="Anta"/>
              <a:buNone/>
            </a:pPr>
            <a:br>
              <a:rPr lang="en-IN" sz="1400" b="1">
                <a:solidFill>
                  <a:srgbClr val="2F5496"/>
                </a:solidFill>
                <a:latin typeface="Times New Roman" panose="02020603050405020304"/>
                <a:ea typeface="Times New Roman" panose="02020603050405020304"/>
                <a:cs typeface="Times New Roman" panose="02020603050405020304"/>
                <a:sym typeface="Times New Roman" panose="02020603050405020304"/>
              </a:rPr>
            </a:br>
            <a:endParaRPr sz="14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5" name="Google Shape;85;p1"/>
          <p:cNvSpPr txBox="1"/>
          <p:nvPr/>
        </p:nvSpPr>
        <p:spPr>
          <a:xfrm>
            <a:off x="7522028" y="4225385"/>
            <a:ext cx="4125600" cy="2462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0"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Team Members</a:t>
            </a:r>
            <a:endParaRPr lang="en-IN" sz="2800" b="0"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T120100133</a:t>
            </a: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 </a:t>
            </a: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Aman Kumar</a:t>
            </a:r>
            <a:endPar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T120100113: Bindu MR </a:t>
            </a:r>
            <a:endParaRPr sz="1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T120100127</a:t>
            </a: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 </a:t>
            </a: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Namratha K Kadam</a:t>
            </a:r>
            <a:endParaRPr sz="1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T120100114</a:t>
            </a: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 </a:t>
            </a: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Soumyajit Hazra </a:t>
            </a:r>
            <a:endPar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T120100124</a:t>
            </a: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 </a:t>
            </a: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Varsha S </a:t>
            </a:r>
            <a:endParaRPr sz="1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1800">
                <a:solidFill>
                  <a:srgbClr val="2F5496"/>
                </a:solidFill>
                <a:latin typeface="Times New Roman" panose="02020603050405020304"/>
                <a:ea typeface="Times New Roman" panose="02020603050405020304"/>
                <a:cs typeface="Times New Roman" panose="02020603050405020304"/>
                <a:sym typeface="Times New Roman" panose="02020603050405020304"/>
              </a:rPr>
              <a:t>T120100110: Yashaswini T </a:t>
            </a:r>
            <a:endParaRPr sz="1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86" name="Google Shape;86;p1"/>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87" name="Google Shape;87;p1"/>
          <p:cNvSpPr txBox="1"/>
          <p:nvPr/>
        </p:nvSpPr>
        <p:spPr>
          <a:xfrm>
            <a:off x="0" y="0"/>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sp>
        <p:nvSpPr>
          <p:cNvPr id="92" name="Google Shape;92;p2"/>
          <p:cNvSpPr txBox="1"/>
          <p:nvPr/>
        </p:nvSpPr>
        <p:spPr>
          <a:xfrm>
            <a:off x="925286" y="566057"/>
            <a:ext cx="10417500" cy="6003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a:solidFill>
                  <a:schemeClr val="dk1"/>
                </a:solidFill>
                <a:latin typeface="Times New Roman" panose="02020603050405020304"/>
                <a:ea typeface="Times New Roman" panose="02020603050405020304"/>
                <a:cs typeface="Times New Roman" panose="02020603050405020304"/>
                <a:sym typeface="Times New Roman" panose="02020603050405020304"/>
              </a:rPr>
              <a:t>Table of Contents</a:t>
            </a:r>
            <a:endParaRPr lang="en-IN" sz="4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Problem Statement</a:t>
            </a:r>
            <a:endPar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Overview of the Project</a:t>
            </a:r>
            <a:endPar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Data generation &amp; Loading</a:t>
            </a:r>
            <a:endPar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Data Exploration &amp; Understanding</a:t>
            </a:r>
            <a:endPar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Exploratory Data Analysis</a:t>
            </a:r>
            <a:endPar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Data Preprocessing &amp; Feature Engineering</a:t>
            </a:r>
            <a:endPar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Model Building &amp; Training</a:t>
            </a:r>
            <a:endPar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Model Evaluation &amp; Performance Analysis</a:t>
            </a:r>
            <a:endPar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Stream API Deployment (Streamlit)</a:t>
            </a:r>
            <a:endPar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Docker Deployment</a:t>
            </a:r>
            <a:endPar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Conclusion</a:t>
            </a:r>
            <a:endPar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3" name="Google Shape;93;p2"/>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sp>
        <p:nvSpPr>
          <p:cNvPr id="98" name="Google Shape;98;p3"/>
          <p:cNvSpPr txBox="1"/>
          <p:nvPr/>
        </p:nvSpPr>
        <p:spPr>
          <a:xfrm>
            <a:off x="925275" y="566021"/>
            <a:ext cx="10417500" cy="6483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2800" b="1">
                <a:solidFill>
                  <a:srgbClr val="2F5496"/>
                </a:solidFill>
                <a:latin typeface="Times New Roman" panose="02020603050405020304"/>
                <a:ea typeface="Times New Roman" panose="02020603050405020304"/>
                <a:cs typeface="Times New Roman" panose="02020603050405020304"/>
                <a:sym typeface="Times New Roman" panose="02020603050405020304"/>
              </a:rPr>
              <a:t>Problem Statement</a:t>
            </a:r>
            <a:endParaRPr sz="28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8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00000"/>
              </a:lnSpc>
              <a:spcBef>
                <a:spcPts val="0"/>
              </a:spcBef>
              <a:spcAft>
                <a:spcPts val="0"/>
              </a:spcAft>
              <a:buClr>
                <a:schemeClr val="dk1"/>
              </a:buClr>
              <a:buSzPts val="1100"/>
              <a:buFont typeface="Arial" panose="020B0604020202020204"/>
              <a:buNone/>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You are working as a data analyst for a manufacturing company that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 </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operates injection molding machines to produce plastic components. The company wants to optimize production efficiency by predicting the hourly output (number of parts produced per hour) based on various machine operating parameters. Your task is to build a linear regression model that can predict machine output using factors like temperature, pressure, cycle time, and material properties. This will help the production team optimize machine settings, plan production schedules, and identify when machines are underperforming.</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SzPts val="1100"/>
              <a:buNone/>
            </a:pPr>
            <a:endParaRPr sz="24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endParaRPr sz="24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1200"/>
              </a:spcBef>
              <a:spcAft>
                <a:spcPts val="0"/>
              </a:spcAft>
              <a:buNone/>
            </a:pPr>
            <a:endParaRPr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9" name="Google Shape;99;p3"/>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sp>
        <p:nvSpPr>
          <p:cNvPr id="104" name="Google Shape;104;p4"/>
          <p:cNvSpPr txBox="1"/>
          <p:nvPr/>
        </p:nvSpPr>
        <p:spPr>
          <a:xfrm>
            <a:off x="249475" y="136050"/>
            <a:ext cx="11255400" cy="6310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2800" b="1">
                <a:solidFill>
                  <a:srgbClr val="2F5496"/>
                </a:solidFill>
                <a:latin typeface="Times New Roman" panose="02020603050405020304"/>
                <a:ea typeface="Times New Roman" panose="02020603050405020304"/>
                <a:cs typeface="Times New Roman" panose="02020603050405020304"/>
                <a:sym typeface="Times New Roman" panose="02020603050405020304"/>
              </a:rPr>
              <a:t>Overview of the Project</a:t>
            </a:r>
            <a:endParaRPr sz="28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8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just" rtl="0">
              <a:lnSpc>
                <a:spcPct val="100000"/>
              </a:lnSpc>
              <a:spcBef>
                <a:spcPts val="0"/>
              </a:spcBef>
              <a:spcAft>
                <a:spcPts val="0"/>
              </a:spcAft>
              <a:buClr>
                <a:srgbClr val="0C3571"/>
              </a:buClr>
              <a:buSzPts val="2200"/>
              <a:buFont typeface="Times New Roman" panose="02020603050405020304"/>
              <a:buChar char="●"/>
            </a:pP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This project predicts hourly output of injection molding machines using linear regression, based on operating parameters like temperature, pressure, cycle time, and material properties.</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00000"/>
              </a:lnSpc>
              <a:spcBef>
                <a:spcPts val="0"/>
              </a:spcBef>
              <a:spcAft>
                <a:spcPts val="0"/>
              </a:spcAft>
              <a:buNone/>
            </a:pP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just" rtl="0">
              <a:lnSpc>
                <a:spcPct val="100000"/>
              </a:lnSpc>
              <a:spcBef>
                <a:spcPts val="0"/>
              </a:spcBef>
              <a:spcAft>
                <a:spcPts val="0"/>
              </a:spcAft>
              <a:buClr>
                <a:srgbClr val="0C3571"/>
              </a:buClr>
              <a:buSzPts val="2200"/>
              <a:buFont typeface="Times New Roman" panose="02020603050405020304"/>
              <a:buChar char="●"/>
            </a:pP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The dataset includes samples with both numerical and categorical features, along with engineered features such as efficiency score and temperature-pressure ratio.</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00000"/>
              </a:lnSpc>
              <a:spcBef>
                <a:spcPts val="0"/>
              </a:spcBef>
              <a:spcAft>
                <a:spcPts val="0"/>
              </a:spcAft>
              <a:buNone/>
            </a:pP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just" rtl="0">
              <a:lnSpc>
                <a:spcPct val="100000"/>
              </a:lnSpc>
              <a:spcBef>
                <a:spcPts val="0"/>
              </a:spcBef>
              <a:spcAft>
                <a:spcPts val="0"/>
              </a:spcAft>
              <a:buClr>
                <a:srgbClr val="0C3571"/>
              </a:buClr>
              <a:buSzPts val="2200"/>
              <a:buFont typeface="Times New Roman" panose="02020603050405020304"/>
              <a:buChar char="●"/>
            </a:pP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A complete ML pipeline is built: data preprocessing, feature encoding, scaling, train/test split, and training models including Linear Regression, Ridge, and Lasso.</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00000"/>
              </a:lnSpc>
              <a:spcBef>
                <a:spcPts val="0"/>
              </a:spcBef>
              <a:spcAft>
                <a:spcPts val="0"/>
              </a:spcAft>
              <a:buNone/>
            </a:pP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just" rtl="0">
              <a:lnSpc>
                <a:spcPct val="100000"/>
              </a:lnSpc>
              <a:spcBef>
                <a:spcPts val="0"/>
              </a:spcBef>
              <a:spcAft>
                <a:spcPts val="0"/>
              </a:spcAft>
              <a:buClr>
                <a:srgbClr val="0C3571"/>
              </a:buClr>
              <a:buSzPts val="2200"/>
              <a:buFont typeface="Times New Roman" panose="02020603050405020304"/>
              <a:buChar char="●"/>
            </a:pP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Model performance is evaluated using metrics like R² and MSE, with results visualized through predicted vs. actual plots, and the best model saved for deployment.</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00000"/>
              </a:lnSpc>
              <a:spcBef>
                <a:spcPts val="0"/>
              </a:spcBef>
              <a:spcAft>
                <a:spcPts val="0"/>
              </a:spcAft>
              <a:buNone/>
            </a:pP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just" rtl="0">
              <a:lnSpc>
                <a:spcPct val="100000"/>
              </a:lnSpc>
              <a:spcBef>
                <a:spcPts val="0"/>
              </a:spcBef>
              <a:spcAft>
                <a:spcPts val="0"/>
              </a:spcAft>
              <a:buClr>
                <a:srgbClr val="0C3571"/>
              </a:buClr>
              <a:buSzPts val="2200"/>
              <a:buFont typeface="Times New Roman" panose="02020603050405020304"/>
              <a:buChar char="●"/>
            </a:pP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The solution helps optimize machine settings, improve scheduling, detect underperformance, and ultimately enhance production efficiency and cost control.</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l" rtl="0">
              <a:spcBef>
                <a:spcPts val="0"/>
              </a:spcBef>
              <a:spcAft>
                <a:spcPts val="0"/>
              </a:spcAft>
              <a:buNone/>
            </a:pP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05" name="Google Shape;105;p4"/>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9" name="Shape 109"/>
        <p:cNvGrpSpPr/>
        <p:nvPr/>
      </p:nvGrpSpPr>
      <p:grpSpPr>
        <a:xfrm>
          <a:off x="0" y="0"/>
          <a:ext cx="0" cy="0"/>
          <a:chOff x="0" y="0"/>
          <a:chExt cx="0" cy="0"/>
        </a:xfrm>
      </p:grpSpPr>
      <p:sp>
        <p:nvSpPr>
          <p:cNvPr id="110" name="Google Shape;110;p5"/>
          <p:cNvSpPr txBox="1"/>
          <p:nvPr/>
        </p:nvSpPr>
        <p:spPr>
          <a:xfrm>
            <a:off x="925275" y="193903"/>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rPr>
              <a:t>Data generation &amp; Loading</a:t>
            </a:r>
            <a:endPar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11" name="Google Shape;111;p5"/>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112" name="Google Shape;112;p5"/>
          <p:cNvSpPr txBox="1"/>
          <p:nvPr/>
        </p:nvSpPr>
        <p:spPr>
          <a:xfrm>
            <a:off x="459925" y="1295150"/>
            <a:ext cx="10811700" cy="53346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Synthetic manufacturing dataset (5,000+ hourly records)</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Based on real-world ranges &amp; principles</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Target: Parts Produced Per Hour</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Features include:</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l" rtl="0">
              <a:lnSpc>
                <a:spcPct val="100000"/>
              </a:lnSpc>
              <a:spcBef>
                <a:spcPts val="0"/>
              </a:spcBef>
              <a:spcAft>
                <a:spcPts val="0"/>
              </a:spcAft>
              <a:buClr>
                <a:srgbClr val="0C3571"/>
              </a:buClr>
              <a:buSzPts val="2400"/>
              <a:buFont typeface="Times New Roman" panose="02020603050405020304"/>
              <a:buChar char="●"/>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Machine settings (temperature, pressure, cycle time, cooling time)</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l" rtl="0">
              <a:lnSpc>
                <a:spcPct val="100000"/>
              </a:lnSpc>
              <a:spcBef>
                <a:spcPts val="0"/>
              </a:spcBef>
              <a:spcAft>
                <a:spcPts val="0"/>
              </a:spcAft>
              <a:buClr>
                <a:srgbClr val="0C3571"/>
              </a:buClr>
              <a:buSzPts val="2400"/>
              <a:buFont typeface="Times New Roman" panose="02020603050405020304"/>
              <a:buChar char="●"/>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Material property (viscosity)</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l" rtl="0">
              <a:lnSpc>
                <a:spcPct val="100000"/>
              </a:lnSpc>
              <a:spcBef>
                <a:spcPts val="0"/>
              </a:spcBef>
              <a:spcAft>
                <a:spcPts val="0"/>
              </a:spcAft>
              <a:buClr>
                <a:srgbClr val="0C3571"/>
              </a:buClr>
              <a:buSzPts val="2400"/>
              <a:buFont typeface="Times New Roman" panose="02020603050405020304"/>
              <a:buChar char="●"/>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Environmental factor (ambient temperature)</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l" rtl="0">
              <a:lnSpc>
                <a:spcPct val="100000"/>
              </a:lnSpc>
              <a:spcBef>
                <a:spcPts val="0"/>
              </a:spcBef>
              <a:spcAft>
                <a:spcPts val="0"/>
              </a:spcAft>
              <a:buClr>
                <a:srgbClr val="0C3571"/>
              </a:buClr>
              <a:buSzPts val="2400"/>
              <a:buFont typeface="Times New Roman" panose="02020603050405020304"/>
              <a:buChar char="●"/>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Human &amp; equipment factors</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Data stored in CSV format for reproducibility</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6" name="Shape 116"/>
        <p:cNvGrpSpPr/>
        <p:nvPr/>
      </p:nvGrpSpPr>
      <p:grpSpPr>
        <a:xfrm>
          <a:off x="0" y="0"/>
          <a:ext cx="0" cy="0"/>
          <a:chOff x="0" y="0"/>
          <a:chExt cx="0" cy="0"/>
        </a:xfrm>
      </p:grpSpPr>
      <p:sp>
        <p:nvSpPr>
          <p:cNvPr id="117" name="Google Shape;117;p6"/>
          <p:cNvSpPr txBox="1"/>
          <p:nvPr/>
        </p:nvSpPr>
        <p:spPr>
          <a:xfrm>
            <a:off x="925286" y="566057"/>
            <a:ext cx="10417628" cy="12618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rPr>
              <a:t>Data Exploration &amp; Understanding</a:t>
            </a:r>
            <a:endPar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18" name="Google Shape;118;p6"/>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119" name="Google Shape;119;p6"/>
          <p:cNvSpPr txBox="1"/>
          <p:nvPr/>
        </p:nvSpPr>
        <p:spPr>
          <a:xfrm>
            <a:off x="487325" y="1603975"/>
            <a:ext cx="11005200" cy="477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IN"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Dataset Source:</a:t>
            </a: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 Synthetic Manufacturing Dataset based on real manufacturing principles; alternatives include Industrial IoT datasets from UCI ML Repository or manufacturing datasets from Kaggle.</a:t>
            </a:r>
            <a:b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IN"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Dataset Size &amp; Target:</a:t>
            </a: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 5,000+ records of hourly machine performance; target variable is parts produced per hour.</a:t>
            </a:r>
            <a:b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IN"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Key Features – Machine Parameters:</a:t>
            </a: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 Injection_Temperature (180–250°C), Injection_Pressure (80–150 bar), Cycle_Time (15–45 sec), Cooling_Time (8–20 sec).</a:t>
            </a:r>
            <a:b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IN"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Material &amp; Environmental Features:</a:t>
            </a: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 Material_Viscosity (100–400 Pa·s), Ambient_Temperature (18–28°C).</a:t>
            </a:r>
            <a:b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IN"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Equipment &amp; Operator Features:</a:t>
            </a: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 Machine_Age (1–15 years), Operator_Experience (1–120 months), Maintenance_Hours (0–200 hours).</a:t>
            </a: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3" name="Shape 123"/>
        <p:cNvGrpSpPr/>
        <p:nvPr/>
      </p:nvGrpSpPr>
      <p:grpSpPr>
        <a:xfrm>
          <a:off x="0" y="0"/>
          <a:ext cx="0" cy="0"/>
          <a:chOff x="0" y="0"/>
          <a:chExt cx="0" cy="0"/>
        </a:xfrm>
      </p:grpSpPr>
      <p:sp>
        <p:nvSpPr>
          <p:cNvPr id="124" name="Google Shape;124;p7"/>
          <p:cNvSpPr txBox="1"/>
          <p:nvPr/>
        </p:nvSpPr>
        <p:spPr>
          <a:xfrm>
            <a:off x="533825" y="155513"/>
            <a:ext cx="10417500" cy="1416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1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4700">
                <a:solidFill>
                  <a:srgbClr val="2F5496"/>
                </a:solidFill>
                <a:latin typeface="Times New Roman" panose="02020603050405020304"/>
                <a:ea typeface="Times New Roman" panose="02020603050405020304"/>
                <a:cs typeface="Times New Roman" panose="02020603050405020304"/>
                <a:sym typeface="Times New Roman" panose="02020603050405020304"/>
              </a:rPr>
              <a:t>Exploratory Data Analysis</a:t>
            </a:r>
            <a:endParaRPr sz="2100"/>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25" name="Google Shape;125;p7"/>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126" name="Google Shape;126;p7"/>
          <p:cNvSpPr txBox="1"/>
          <p:nvPr/>
        </p:nvSpPr>
        <p:spPr>
          <a:xfrm>
            <a:off x="394500" y="1540925"/>
            <a:ext cx="11416500" cy="4697700"/>
          </a:xfrm>
          <a:prstGeom prst="rect">
            <a:avLst/>
          </a:prstGeom>
          <a:noFill/>
          <a:ln>
            <a:noFill/>
          </a:ln>
        </p:spPr>
        <p:txBody>
          <a:bodyPr spcFirstLastPara="1" wrap="square" lIns="91425" tIns="91425" rIns="91425" bIns="91425" anchor="t" anchorCtr="0">
            <a:noAutofit/>
          </a:bodyPr>
          <a:lstStyle/>
          <a:p>
            <a:pPr marL="12700" lvl="0" indent="-12700" algn="l" rtl="0">
              <a:lnSpc>
                <a:spcPct val="100000"/>
              </a:lnSpc>
              <a:spcBef>
                <a:spcPts val="0"/>
              </a:spcBef>
              <a:spcAft>
                <a:spcPts val="0"/>
              </a:spcAft>
              <a:buClr>
                <a:schemeClr val="dk1"/>
              </a:buClr>
              <a:buSzPts val="1100"/>
              <a:buFont typeface="Arial" panose="020B0604020202020204"/>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Histograms: Show feature distributions (temperature, pressure, etc.)</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0" algn="l" rtl="0">
              <a:lnSpc>
                <a:spcPct val="100000"/>
              </a:lnSpc>
              <a:spcBef>
                <a:spcPts val="0"/>
              </a:spcBef>
              <a:spcAft>
                <a:spcPts val="0"/>
              </a:spcAft>
              <a:buClr>
                <a:schemeClr val="dk1"/>
              </a:buClr>
              <a:buSzPts val="1100"/>
              <a:buFont typeface="Arial" panose="020B0604020202020204"/>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Correlation Matrix: Finds relationships among variables</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l" rtl="0">
              <a:lnSpc>
                <a:spcPct val="100000"/>
              </a:lnSpc>
              <a:spcBef>
                <a:spcPts val="0"/>
              </a:spcBef>
              <a:spcAft>
                <a:spcPts val="0"/>
              </a:spcAft>
              <a:buClr>
                <a:schemeClr val="dk1"/>
              </a:buClr>
              <a:buSzPts val="1100"/>
              <a:buFont typeface="Arial" panose="020B0604020202020204"/>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Scatter Plots: Reveal how settings affect production</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l" rtl="0">
              <a:lnSpc>
                <a:spcPct val="100000"/>
              </a:lnSpc>
              <a:spcBef>
                <a:spcPts val="0"/>
              </a:spcBef>
              <a:spcAft>
                <a:spcPts val="0"/>
              </a:spcAft>
              <a:buClr>
                <a:schemeClr val="dk1"/>
              </a:buClr>
              <a:buSzPts val="1100"/>
              <a:buFont typeface="Arial" panose="020B0604020202020204"/>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Key Insights:</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l" rtl="0">
              <a:lnSpc>
                <a:spcPct val="100000"/>
              </a:lnSpc>
              <a:spcBef>
                <a:spcPts val="0"/>
              </a:spcBef>
              <a:spcAft>
                <a:spcPts val="0"/>
              </a:spcAft>
              <a:buClr>
                <a:schemeClr val="dk1"/>
              </a:buClr>
              <a:buSzPts val="1100"/>
              <a:buFont typeface="Arial" panose="020B0604020202020204"/>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Shorter cycle times → higher output</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l" rtl="0">
              <a:lnSpc>
                <a:spcPct val="100000"/>
              </a:lnSpc>
              <a:spcBef>
                <a:spcPts val="0"/>
              </a:spcBef>
              <a:spcAft>
                <a:spcPts val="0"/>
              </a:spcAft>
              <a:buClr>
                <a:schemeClr val="dk1"/>
              </a:buClr>
              <a:buSzPts val="1100"/>
              <a:buFont typeface="Arial" panose="020B0604020202020204"/>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Higher operator experience → better performance</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l" rtl="0">
              <a:lnSpc>
                <a:spcPct val="100000"/>
              </a:lnSpc>
              <a:spcBef>
                <a:spcPts val="0"/>
              </a:spcBef>
              <a:spcAft>
                <a:spcPts val="0"/>
              </a:spcAft>
              <a:buClr>
                <a:schemeClr val="dk1"/>
              </a:buClr>
              <a:buSzPts val="1100"/>
              <a:buFont typeface="Arial" panose="020B0604020202020204"/>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Cooling time balance: speed vs. quality trade-off</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endParaRPr sz="2400" b="1">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30" name="Shape 130"/>
        <p:cNvGrpSpPr/>
        <p:nvPr/>
      </p:nvGrpSpPr>
      <p:grpSpPr>
        <a:xfrm>
          <a:off x="0" y="0"/>
          <a:ext cx="0" cy="0"/>
          <a:chOff x="0" y="0"/>
          <a:chExt cx="0" cy="0"/>
        </a:xfrm>
      </p:grpSpPr>
      <p:sp>
        <p:nvSpPr>
          <p:cNvPr id="131" name="Google Shape;131;p8"/>
          <p:cNvSpPr txBox="1"/>
          <p:nvPr/>
        </p:nvSpPr>
        <p:spPr>
          <a:xfrm>
            <a:off x="519300" y="304800"/>
            <a:ext cx="10417500" cy="130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4300">
                <a:solidFill>
                  <a:srgbClr val="2F5496"/>
                </a:solidFill>
                <a:latin typeface="Times New Roman" panose="02020603050405020304"/>
                <a:ea typeface="Times New Roman" panose="02020603050405020304"/>
                <a:cs typeface="Times New Roman" panose="02020603050405020304"/>
                <a:sym typeface="Times New Roman" panose="02020603050405020304"/>
              </a:rPr>
              <a:t>Data Preprocessing &amp; Feature Engineering</a:t>
            </a:r>
            <a:endParaRPr sz="1700"/>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32" name="Google Shape;132;p8"/>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133" name="Google Shape;133;p8"/>
          <p:cNvSpPr txBox="1"/>
          <p:nvPr/>
        </p:nvSpPr>
        <p:spPr>
          <a:xfrm>
            <a:off x="292875" y="1412200"/>
            <a:ext cx="11265600" cy="51615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Clr>
                <a:schemeClr val="dk1"/>
              </a:buClr>
              <a:buSzPts val="1100"/>
              <a:buFont typeface="Arial" panose="020B0604020202020204"/>
              <a:buNone/>
            </a:pP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1.Handling Outliers:</a:t>
            </a:r>
            <a:endParaRPr sz="23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25400" lvl="0" indent="-12700" algn="just" rtl="0">
              <a:lnSpc>
                <a:spcPct val="100000"/>
              </a:lnSpc>
              <a:spcBef>
                <a:spcPts val="0"/>
              </a:spcBef>
              <a:spcAft>
                <a:spcPts val="0"/>
              </a:spcAft>
              <a:buClr>
                <a:schemeClr val="dk1"/>
              </a:buClr>
              <a:buSzPts val="1100"/>
              <a:buFont typeface="Arial" panose="020B0604020202020204"/>
              <a:buNone/>
            </a:pPr>
            <a:r>
              <a:rPr lang="en-IN" sz="23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Outliers are extreme values that don’t match the rest of the data.</a:t>
            </a:r>
            <a:endParaRPr sz="23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25400" lvl="0" indent="-12700" algn="just" rtl="0">
              <a:lnSpc>
                <a:spcPct val="100000"/>
              </a:lnSpc>
              <a:spcBef>
                <a:spcPts val="0"/>
              </a:spcBef>
              <a:spcAft>
                <a:spcPts val="0"/>
              </a:spcAft>
              <a:buClr>
                <a:schemeClr val="dk1"/>
              </a:buClr>
              <a:buSzPts val="1100"/>
              <a:buFont typeface="Arial" panose="020B0604020202020204"/>
              <a:buNone/>
            </a:pPr>
            <a:r>
              <a:rPr lang="en-IN" sz="23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We remove or adjust them using the IQR method so they don’t mislead the model.</a:t>
            </a:r>
            <a:endParaRPr sz="23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00000"/>
              </a:lnSpc>
              <a:spcBef>
                <a:spcPts val="0"/>
              </a:spcBef>
              <a:spcAft>
                <a:spcPts val="0"/>
              </a:spcAft>
              <a:buClr>
                <a:schemeClr val="dk1"/>
              </a:buClr>
              <a:buSzPts val="1100"/>
              <a:buFont typeface="Arial" panose="020B0604020202020204"/>
              <a:buNone/>
            </a:pP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2.Creating New Features:</a:t>
            </a:r>
            <a:endParaRPr sz="23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25400" lvl="0" indent="-12700" algn="just" rtl="0">
              <a:lnSpc>
                <a:spcPct val="100000"/>
              </a:lnSpc>
              <a:spcBef>
                <a:spcPts val="0"/>
              </a:spcBef>
              <a:spcAft>
                <a:spcPts val="0"/>
              </a:spcAft>
              <a:buClr>
                <a:schemeClr val="dk1"/>
              </a:buClr>
              <a:buSzPts val="1100"/>
              <a:buFont typeface="Arial" panose="020B0604020202020204"/>
              <a:buNone/>
            </a:pPr>
            <a:r>
              <a:rPr lang="en-IN" sz="23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Sometimes combining features gives more useful information.</a:t>
            </a:r>
            <a:endParaRPr sz="23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00000"/>
              </a:lnSpc>
              <a:spcBef>
                <a:spcPts val="0"/>
              </a:spcBef>
              <a:spcAft>
                <a:spcPts val="0"/>
              </a:spcAft>
              <a:buClr>
                <a:schemeClr val="dk1"/>
              </a:buClr>
              <a:buSzPts val="1100"/>
              <a:buFont typeface="Arial" panose="020B0604020202020204"/>
              <a:buNone/>
            </a:pP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3.Scaling Features:</a:t>
            </a:r>
            <a:endParaRPr sz="23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25400" lvl="0" indent="-12700" algn="just" rtl="0">
              <a:lnSpc>
                <a:spcPct val="100000"/>
              </a:lnSpc>
              <a:spcBef>
                <a:spcPts val="0"/>
              </a:spcBef>
              <a:spcAft>
                <a:spcPts val="0"/>
              </a:spcAft>
              <a:buClr>
                <a:schemeClr val="dk1"/>
              </a:buClr>
              <a:buSzPts val="1100"/>
              <a:buFont typeface="Arial" panose="020B0604020202020204"/>
              <a:buNone/>
            </a:pPr>
            <a:r>
              <a:rPr lang="en-IN" sz="23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Features have different ranges (e.g., Temperature in 200s, Experience in 10s).</a:t>
            </a:r>
            <a:endParaRPr sz="23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25400" lvl="0" indent="-12700" algn="just" rtl="0">
              <a:lnSpc>
                <a:spcPct val="100000"/>
              </a:lnSpc>
              <a:spcBef>
                <a:spcPts val="0"/>
              </a:spcBef>
              <a:spcAft>
                <a:spcPts val="0"/>
              </a:spcAft>
              <a:buClr>
                <a:schemeClr val="dk1"/>
              </a:buClr>
              <a:buSzPts val="1100"/>
              <a:buFont typeface="Arial" panose="020B0604020202020204"/>
              <a:buNone/>
            </a:pPr>
            <a:r>
              <a:rPr lang="en-IN" sz="23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Scaling puts everything on a similar scale so the model treats them fairly.</a:t>
            </a:r>
            <a:endParaRPr sz="23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00000"/>
              </a:lnSpc>
              <a:spcBef>
                <a:spcPts val="0"/>
              </a:spcBef>
              <a:spcAft>
                <a:spcPts val="0"/>
              </a:spcAft>
              <a:buClr>
                <a:schemeClr val="dk1"/>
              </a:buClr>
              <a:buSzPts val="1100"/>
              <a:buFont typeface="Arial" panose="020B0604020202020204"/>
              <a:buNone/>
            </a:pP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4.Splitting Data:</a:t>
            </a:r>
            <a:endParaRPr sz="23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25400" lvl="0" indent="-12700" algn="just" rtl="0">
              <a:lnSpc>
                <a:spcPct val="100000"/>
              </a:lnSpc>
              <a:spcBef>
                <a:spcPts val="0"/>
              </a:spcBef>
              <a:spcAft>
                <a:spcPts val="0"/>
              </a:spcAft>
              <a:buClr>
                <a:schemeClr val="dk1"/>
              </a:buClr>
              <a:buSzPts val="1100"/>
              <a:buFont typeface="Arial" panose="020B0604020202020204"/>
              <a:buNone/>
            </a:pPr>
            <a:r>
              <a:rPr lang="en-IN" sz="23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Divide data into training set (80%) and test set (20%).</a:t>
            </a:r>
            <a:endParaRPr sz="23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25400" lvl="0" indent="-12700" algn="just" rtl="0">
              <a:lnSpc>
                <a:spcPct val="100000"/>
              </a:lnSpc>
              <a:spcBef>
                <a:spcPts val="0"/>
              </a:spcBef>
              <a:spcAft>
                <a:spcPts val="0"/>
              </a:spcAft>
              <a:buClr>
                <a:schemeClr val="dk1"/>
              </a:buClr>
              <a:buSzPts val="1100"/>
              <a:buFont typeface="Arial" panose="020B0604020202020204"/>
              <a:buNone/>
            </a:pPr>
            <a:r>
              <a:rPr lang="en-IN" sz="23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Training set → teach the model.</a:t>
            </a:r>
            <a:endParaRPr sz="23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25400" lvl="0" indent="-12700" algn="just" rtl="0">
              <a:lnSpc>
                <a:spcPct val="100000"/>
              </a:lnSpc>
              <a:spcBef>
                <a:spcPts val="0"/>
              </a:spcBef>
              <a:spcAft>
                <a:spcPts val="0"/>
              </a:spcAft>
              <a:buClr>
                <a:schemeClr val="dk1"/>
              </a:buClr>
              <a:buSzPts val="1100"/>
              <a:buFont typeface="Arial" panose="020B0604020202020204"/>
              <a:buNone/>
            </a:pPr>
            <a:r>
              <a:rPr lang="en-IN" sz="23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Test set → check if the model works on new data.</a:t>
            </a:r>
            <a:endParaRPr sz="23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25400" lvl="0" indent="-12700" algn="just" rtl="0">
              <a:lnSpc>
                <a:spcPct val="100000"/>
              </a:lnSpc>
              <a:spcBef>
                <a:spcPts val="0"/>
              </a:spcBef>
              <a:spcAft>
                <a:spcPts val="0"/>
              </a:spcAft>
              <a:buNone/>
            </a:pPr>
            <a:r>
              <a:rPr lang="en-IN" sz="23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300">
                <a:solidFill>
                  <a:srgbClr val="0C3571"/>
                </a:solidFill>
                <a:latin typeface="Times New Roman" panose="02020603050405020304"/>
                <a:ea typeface="Times New Roman" panose="02020603050405020304"/>
                <a:cs typeface="Times New Roman" panose="02020603050405020304"/>
                <a:sym typeface="Times New Roman" panose="02020603050405020304"/>
              </a:rPr>
              <a:t>Use a fixed random number so we always get the same split.</a:t>
            </a:r>
            <a:endParaRPr sz="2300" b="1">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sp>
        <p:nvSpPr>
          <p:cNvPr id="138" name="Google Shape;138;p9"/>
          <p:cNvSpPr txBox="1"/>
          <p:nvPr/>
        </p:nvSpPr>
        <p:spPr>
          <a:xfrm>
            <a:off x="416236" y="201819"/>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rPr>
              <a:t>Model Building &amp; Training</a:t>
            </a:r>
            <a:endPar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39" name="Google Shape;139;p9"/>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140" name="Google Shape;140;p9"/>
          <p:cNvSpPr txBox="1"/>
          <p:nvPr/>
        </p:nvSpPr>
        <p:spPr>
          <a:xfrm>
            <a:off x="234800" y="1179300"/>
            <a:ext cx="11576100" cy="4617600"/>
          </a:xfrm>
          <a:prstGeom prst="rect">
            <a:avLst/>
          </a:prstGeom>
          <a:noFill/>
          <a:ln>
            <a:noFill/>
          </a:ln>
        </p:spPr>
        <p:txBody>
          <a:bodyPr spcFirstLastPara="1" wrap="square" lIns="91425" tIns="91425" rIns="91425" bIns="91425" anchor="t" anchorCtr="0">
            <a:spAutoFit/>
          </a:bodyPr>
          <a:lstStyle/>
          <a:p>
            <a:pPr marL="457200" lvl="0" indent="-381000" algn="just" rtl="0">
              <a:lnSpc>
                <a:spcPct val="100000"/>
              </a:lnSpc>
              <a:spcBef>
                <a:spcPts val="0"/>
              </a:spcBef>
              <a:spcAft>
                <a:spcPts val="0"/>
              </a:spcAft>
              <a:buClr>
                <a:srgbClr val="2F5496"/>
              </a:buClr>
              <a:buSzPts val="2400"/>
              <a:buFont typeface="Times New Roman" panose="02020603050405020304"/>
              <a:buChar char="●"/>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1.Linear Regression Model:</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00000"/>
              </a:lnSpc>
              <a:spcBef>
                <a:spcPts val="0"/>
              </a:spcBef>
              <a:spcAft>
                <a:spcPts val="0"/>
              </a:spcAft>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A simple model that tries to fit a straight line through the data.</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00000"/>
              </a:lnSpc>
              <a:spcBef>
                <a:spcPts val="0"/>
              </a:spcBef>
              <a:spcAft>
                <a:spcPts val="0"/>
              </a:spcAft>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It predicts Parts_Per_Hour based on machine settings.</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just" rtl="0">
              <a:lnSpc>
                <a:spcPct val="100000"/>
              </a:lnSpc>
              <a:spcBef>
                <a:spcPts val="0"/>
              </a:spcBef>
              <a:spcAft>
                <a:spcPts val="0"/>
              </a:spcAft>
              <a:buClr>
                <a:srgbClr val="2F5496"/>
              </a:buClr>
              <a:buSzPts val="2400"/>
              <a:buFont typeface="Times New Roman" panose="02020603050405020304"/>
              <a:buChar char="●"/>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2.Regularized Models (Ridge &amp; Lasso):</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00000"/>
              </a:lnSpc>
              <a:spcBef>
                <a:spcPts val="0"/>
              </a:spcBef>
              <a:spcAft>
                <a:spcPts val="0"/>
              </a:spcAft>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Ridge → makes sure no single feature has too much influence.</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00000"/>
              </a:lnSpc>
              <a:spcBef>
                <a:spcPts val="0"/>
              </a:spcBef>
              <a:spcAft>
                <a:spcPts val="0"/>
              </a:spcAft>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Lasso → can remove unimportant features completely.</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just" rtl="0">
              <a:lnSpc>
                <a:spcPct val="100000"/>
              </a:lnSpc>
              <a:spcBef>
                <a:spcPts val="0"/>
              </a:spcBef>
              <a:spcAft>
                <a:spcPts val="0"/>
              </a:spcAft>
              <a:buClr>
                <a:srgbClr val="2F5496"/>
              </a:buClr>
              <a:buSzPts val="2400"/>
              <a:buFont typeface="Times New Roman" panose="02020603050405020304"/>
              <a:buChar char="●"/>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3.Training the Model:</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00000"/>
              </a:lnSpc>
              <a:spcBef>
                <a:spcPts val="0"/>
              </a:spcBef>
              <a:spcAft>
                <a:spcPts val="0"/>
              </a:spcAft>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We give the training data to the model.</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00000"/>
              </a:lnSpc>
              <a:spcBef>
                <a:spcPts val="0"/>
              </a:spcBef>
              <a:spcAft>
                <a:spcPts val="0"/>
              </a:spcAft>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The model “learns” the patterns.</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00000"/>
              </a:lnSpc>
              <a:spcBef>
                <a:spcPts val="0"/>
              </a:spcBef>
              <a:spcAft>
                <a:spcPts val="0"/>
              </a:spcAft>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Then we test it on new (test) data.</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just" rtl="0">
              <a:lnSpc>
                <a:spcPct val="100000"/>
              </a:lnSpc>
              <a:spcBef>
                <a:spcPts val="0"/>
              </a:spcBef>
              <a:spcAft>
                <a:spcPts val="0"/>
              </a:spcAft>
              <a:buClr>
                <a:srgbClr val="2F5496"/>
              </a:buClr>
              <a:buSzPts val="2400"/>
              <a:buFont typeface="Times New Roman" panose="02020603050405020304"/>
              <a:buChar char="●"/>
            </a:pP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4.Reproducibility:</a:t>
            </a:r>
            <a:endParaRPr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00000"/>
              </a:lnSpc>
              <a:spcBef>
                <a:spcPts val="0"/>
              </a:spcBef>
              <a:spcAft>
                <a:spcPts val="0"/>
              </a:spcAft>
              <a:buNone/>
            </a:pPr>
            <a:r>
              <a:rPr lang="en-IN"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400">
                <a:solidFill>
                  <a:srgbClr val="0C3571"/>
                </a:solidFill>
                <a:latin typeface="Times New Roman" panose="02020603050405020304"/>
                <a:ea typeface="Times New Roman" panose="02020603050405020304"/>
                <a:cs typeface="Times New Roman" panose="02020603050405020304"/>
                <a:sym typeface="Times New Roman" panose="02020603050405020304"/>
              </a:rPr>
              <a:t>Use the same random seed so we can repeat results.</a:t>
            </a:r>
            <a:endParaRPr sz="24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g38cdb4fd196_2_27"/>
          <p:cNvSpPr txBox="1"/>
          <p:nvPr/>
        </p:nvSpPr>
        <p:spPr>
          <a:xfrm>
            <a:off x="887261" y="201719"/>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rPr>
              <a:t>Model Evaluation &amp; Performance Analysis</a:t>
            </a:r>
            <a:endPar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18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46" name="Google Shape;146;g38cdb4fd196_2_27"/>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147" name="Google Shape;147;g38cdb4fd196_2_27"/>
          <p:cNvSpPr txBox="1"/>
          <p:nvPr/>
        </p:nvSpPr>
        <p:spPr>
          <a:xfrm>
            <a:off x="275725" y="1027700"/>
            <a:ext cx="11187600" cy="55860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1.Metrics to Check:</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0" algn="just" rtl="0">
              <a:lnSpc>
                <a:spcPct val="115000"/>
              </a:lnSpc>
              <a:spcBef>
                <a:spcPts val="0"/>
              </a:spcBef>
              <a:spcAft>
                <a:spcPts val="0"/>
              </a:spcAft>
              <a:buNone/>
            </a:pP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R² (R-squared): How much of the output can be explained by the model (closer to 1 is better).</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0" algn="just" rtl="0">
              <a:lnSpc>
                <a:spcPct val="115000"/>
              </a:lnSpc>
              <a:spcBef>
                <a:spcPts val="0"/>
              </a:spcBef>
              <a:spcAft>
                <a:spcPts val="0"/>
              </a:spcAft>
              <a:buNone/>
            </a:pP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MAE (Mean Absolute Error): Average size of errors.</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0" algn="just" rtl="0">
              <a:lnSpc>
                <a:spcPct val="115000"/>
              </a:lnSpc>
              <a:spcBef>
                <a:spcPts val="0"/>
              </a:spcBef>
              <a:spcAft>
                <a:spcPts val="0"/>
              </a:spcAft>
              <a:buNone/>
            </a:pP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MSE (Mean Squared Error): Larger errors are punished more.</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0" algn="just" rtl="0">
              <a:lnSpc>
                <a:spcPct val="115000"/>
              </a:lnSpc>
              <a:spcBef>
                <a:spcPts val="0"/>
              </a:spcBef>
              <a:spcAft>
                <a:spcPts val="0"/>
              </a:spcAft>
              <a:buNone/>
            </a:pP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RMSE: Easy to read version of MSE, in the same unit as output.</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2.Residuals (Errors):</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0" algn="just" rtl="0">
              <a:lnSpc>
                <a:spcPct val="115000"/>
              </a:lnSpc>
              <a:spcBef>
                <a:spcPts val="0"/>
              </a:spcBef>
              <a:spcAft>
                <a:spcPts val="0"/>
              </a:spcAft>
              <a:buNone/>
            </a:pP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Residual = Actual − Predicted.</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0" algn="just" rtl="0">
              <a:lnSpc>
                <a:spcPct val="115000"/>
              </a:lnSpc>
              <a:spcBef>
                <a:spcPts val="0"/>
              </a:spcBef>
              <a:spcAft>
                <a:spcPts val="0"/>
              </a:spcAft>
              <a:buNone/>
            </a:pP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Plot residuals → should look random.</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0" algn="just" rtl="0">
              <a:lnSpc>
                <a:spcPct val="115000"/>
              </a:lnSpc>
              <a:spcBef>
                <a:spcPts val="0"/>
              </a:spcBef>
              <a:spcAft>
                <a:spcPts val="0"/>
              </a:spcAft>
              <a:buNone/>
            </a:pP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If there’s a pattern, model might be missing something.</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3.Predicted vs Actual Plot:</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0" algn="just" rtl="0">
              <a:lnSpc>
                <a:spcPct val="115000"/>
              </a:lnSpc>
              <a:spcBef>
                <a:spcPts val="0"/>
              </a:spcBef>
              <a:spcAft>
                <a:spcPts val="0"/>
              </a:spcAft>
              <a:buNone/>
            </a:pP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Compare predicted output vs actual.</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0" algn="just" rtl="0">
              <a:lnSpc>
                <a:spcPct val="115000"/>
              </a:lnSpc>
              <a:spcBef>
                <a:spcPts val="0"/>
              </a:spcBef>
              <a:spcAft>
                <a:spcPts val="0"/>
              </a:spcAft>
              <a:buNone/>
            </a:pP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If points are close to the 45° line, predictions are good.</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0" algn="just" rtl="0">
              <a:lnSpc>
                <a:spcPct val="115000"/>
              </a:lnSpc>
              <a:spcBef>
                <a:spcPts val="0"/>
              </a:spcBef>
              <a:spcAft>
                <a:spcPts val="0"/>
              </a:spcAft>
              <a:buNone/>
            </a:pP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Performance Across Conditions:</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0" algn="just" rtl="0">
              <a:lnSpc>
                <a:spcPct val="115000"/>
              </a:lnSpc>
              <a:spcBef>
                <a:spcPts val="0"/>
              </a:spcBef>
              <a:spcAft>
                <a:spcPts val="0"/>
              </a:spcAft>
              <a:buNone/>
            </a:pPr>
            <a:r>
              <a:rPr lang="en-IN" sz="22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IN" sz="2200">
                <a:solidFill>
                  <a:srgbClr val="0C3571"/>
                </a:solidFill>
                <a:latin typeface="Times New Roman" panose="02020603050405020304"/>
                <a:ea typeface="Times New Roman" panose="02020603050405020304"/>
                <a:cs typeface="Times New Roman" panose="02020603050405020304"/>
                <a:sym typeface="Times New Roman" panose="02020603050405020304"/>
              </a:rPr>
              <a:t>Check if the model works well in all shifts, machine types, etc.</a:t>
            </a:r>
            <a:endParaRPr sz="22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51" name="Shape 151"/>
        <p:cNvGrpSpPr/>
        <p:nvPr/>
      </p:nvGrpSpPr>
      <p:grpSpPr>
        <a:xfrm>
          <a:off x="0" y="0"/>
          <a:ext cx="0" cy="0"/>
          <a:chOff x="0" y="0"/>
          <a:chExt cx="0" cy="0"/>
        </a:xfrm>
      </p:grpSpPr>
      <p:sp>
        <p:nvSpPr>
          <p:cNvPr id="152" name="Google Shape;152;p12"/>
          <p:cNvSpPr txBox="1"/>
          <p:nvPr/>
        </p:nvSpPr>
        <p:spPr>
          <a:xfrm>
            <a:off x="925286" y="566057"/>
            <a:ext cx="10417500" cy="6714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Font typeface="Arial" panose="020B0604020202020204"/>
              <a:buNone/>
            </a:pPr>
            <a:r>
              <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rPr>
              <a:t>Stream API Deployment (Streamlit)</a:t>
            </a:r>
            <a:endParaRPr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400"/>
              </a:spcBef>
              <a:spcAft>
                <a:spcPts val="0"/>
              </a:spcAft>
              <a:buClr>
                <a:schemeClr val="dk1"/>
              </a:buClr>
              <a:buSzPts val="1100"/>
              <a:buFont typeface="Arial" panose="020B0604020202020204"/>
              <a:buNone/>
            </a:pPr>
            <a:endParaRPr sz="1300" b="1">
              <a:solidFill>
                <a:srgbClr val="2F5496"/>
              </a:solidFill>
            </a:endParaRPr>
          </a:p>
          <a:p>
            <a:pPr marL="457200" lvl="0" indent="-368300" algn="l" rtl="0">
              <a:lnSpc>
                <a:spcPct val="115000"/>
              </a:lnSpc>
              <a:spcBef>
                <a:spcPts val="1200"/>
              </a:spcBef>
              <a:spcAft>
                <a:spcPts val="0"/>
              </a:spcAft>
              <a:buClr>
                <a:srgbClr val="2F5496"/>
              </a:buClr>
              <a:buSzPts val="2200"/>
              <a:buChar char="●"/>
            </a:pP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We developed an </a:t>
            </a:r>
            <a:r>
              <a:rPr lang="en-IN" sz="2200" b="1">
                <a:solidFill>
                  <a:srgbClr val="2F5496"/>
                </a:solidFill>
                <a:latin typeface="Times New Roman" panose="02020603050405020304"/>
                <a:ea typeface="Times New Roman" panose="02020603050405020304"/>
                <a:cs typeface="Times New Roman" panose="02020603050405020304"/>
                <a:sym typeface="Times New Roman" panose="02020603050405020304"/>
              </a:rPr>
              <a:t>interactive Streamlit app</a:t>
            </a: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 to deploy the linear regression model.</a:t>
            </a:r>
            <a:b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b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l" rtl="0">
              <a:lnSpc>
                <a:spcPct val="115000"/>
              </a:lnSpc>
              <a:spcBef>
                <a:spcPts val="0"/>
              </a:spcBef>
              <a:spcAft>
                <a:spcPts val="0"/>
              </a:spcAft>
              <a:buClr>
                <a:srgbClr val="2F5496"/>
              </a:buClr>
              <a:buSzPts val="2200"/>
              <a:buChar char="●"/>
            </a:pP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The app provides </a:t>
            </a:r>
            <a:r>
              <a:rPr lang="en-IN" sz="2200" b="1">
                <a:solidFill>
                  <a:srgbClr val="2F5496"/>
                </a:solidFill>
                <a:latin typeface="Times New Roman" panose="02020603050405020304"/>
                <a:ea typeface="Times New Roman" panose="02020603050405020304"/>
                <a:cs typeface="Times New Roman" panose="02020603050405020304"/>
                <a:sym typeface="Times New Roman" panose="02020603050405020304"/>
              </a:rPr>
              <a:t>user-friendly input fields</a:t>
            </a: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 for machine operating parameters such as temperature, pressure, cycle time, and material viscosity.</a:t>
            </a:r>
            <a:b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b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l" rtl="0">
              <a:lnSpc>
                <a:spcPct val="115000"/>
              </a:lnSpc>
              <a:spcBef>
                <a:spcPts val="0"/>
              </a:spcBef>
              <a:spcAft>
                <a:spcPts val="0"/>
              </a:spcAft>
              <a:buClr>
                <a:srgbClr val="2F5496"/>
              </a:buClr>
              <a:buSzPts val="2200"/>
              <a:buChar char="●"/>
            </a:pP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Once inputs are given, the model generates </a:t>
            </a:r>
            <a:r>
              <a:rPr lang="en-IN" sz="2200" b="1">
                <a:solidFill>
                  <a:srgbClr val="2F5496"/>
                </a:solidFill>
                <a:latin typeface="Times New Roman" panose="02020603050405020304"/>
                <a:ea typeface="Times New Roman" panose="02020603050405020304"/>
                <a:cs typeface="Times New Roman" panose="02020603050405020304"/>
                <a:sym typeface="Times New Roman" panose="02020603050405020304"/>
              </a:rPr>
              <a:t>predictions of hourly machine output (parts produced per hour)</a:t>
            </a: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 in real time.</a:t>
            </a:r>
            <a:b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b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l" rtl="0">
              <a:lnSpc>
                <a:spcPct val="115000"/>
              </a:lnSpc>
              <a:spcBef>
                <a:spcPts val="0"/>
              </a:spcBef>
              <a:spcAft>
                <a:spcPts val="0"/>
              </a:spcAft>
              <a:buClr>
                <a:srgbClr val="2F5496"/>
              </a:buClr>
              <a:buSzPts val="2200"/>
              <a:buFont typeface="Times New Roman" panose="02020603050405020304"/>
              <a:buChar char="●"/>
            </a:pP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The interface is simple, making it easy for operators to use without technical expertise.</a:t>
            </a:r>
            <a:b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b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l" rtl="0">
              <a:lnSpc>
                <a:spcPct val="115000"/>
              </a:lnSpc>
              <a:spcBef>
                <a:spcPts val="0"/>
              </a:spcBef>
              <a:spcAft>
                <a:spcPts val="0"/>
              </a:spcAft>
              <a:buClr>
                <a:srgbClr val="2F5496"/>
              </a:buClr>
              <a:buSzPts val="2200"/>
              <a:buChar char="●"/>
            </a:pP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The app also includes </a:t>
            </a:r>
            <a:r>
              <a:rPr lang="en-IN" sz="2200" b="1">
                <a:solidFill>
                  <a:srgbClr val="2F5496"/>
                </a:solidFill>
                <a:latin typeface="Times New Roman" panose="02020603050405020304"/>
                <a:ea typeface="Times New Roman" panose="02020603050405020304"/>
                <a:cs typeface="Times New Roman" panose="02020603050405020304"/>
                <a:sym typeface="Times New Roman" panose="02020603050405020304"/>
              </a:rPr>
              <a:t>basic error handling</a:t>
            </a: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 to ensure smooth user experience with valid inputs.</a:t>
            </a: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200"/>
              </a:spcBef>
              <a:spcAft>
                <a:spcPts val="0"/>
              </a:spcAft>
              <a:buNone/>
            </a:pP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53" name="Google Shape;153;p12"/>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57" name="Shape 157"/>
        <p:cNvGrpSpPr/>
        <p:nvPr/>
      </p:nvGrpSpPr>
      <p:grpSpPr>
        <a:xfrm>
          <a:off x="0" y="0"/>
          <a:ext cx="0" cy="0"/>
          <a:chOff x="0" y="0"/>
          <a:chExt cx="0" cy="0"/>
        </a:xfrm>
      </p:grpSpPr>
      <p:sp>
        <p:nvSpPr>
          <p:cNvPr id="158" name="Google Shape;158;p11"/>
          <p:cNvSpPr txBox="1"/>
          <p:nvPr/>
        </p:nvSpPr>
        <p:spPr>
          <a:xfrm>
            <a:off x="925286" y="566057"/>
            <a:ext cx="10417500" cy="55998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5000"/>
              </a:lnSpc>
              <a:spcBef>
                <a:spcPts val="0"/>
              </a:spcBef>
              <a:spcAft>
                <a:spcPts val="0"/>
              </a:spcAft>
              <a:buNone/>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Docker Deployment </a:t>
            </a:r>
            <a:endParaRPr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5000"/>
              </a:lnSpc>
              <a:spcBef>
                <a:spcPts val="0"/>
              </a:spcBef>
              <a:spcAft>
                <a:spcPts val="0"/>
              </a:spcAft>
              <a:buNone/>
            </a:pP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r>
              <a:rPr lang="en-IN" sz="2200" b="1">
                <a:solidFill>
                  <a:srgbClr val="2F5496"/>
                </a:solidFill>
                <a:latin typeface="Times New Roman" panose="02020603050405020304"/>
                <a:ea typeface="Times New Roman" panose="02020603050405020304"/>
                <a:cs typeface="Times New Roman" panose="02020603050405020304"/>
                <a:sym typeface="Times New Roman" panose="02020603050405020304"/>
              </a:rPr>
              <a:t>Create a Dockerfile</a:t>
            </a: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 – Define the environment and instructions to containerize the FastAPI application.</a:t>
            </a:r>
            <a:b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b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r>
              <a:rPr lang="en-IN" sz="2200" b="1">
                <a:solidFill>
                  <a:srgbClr val="2F5496"/>
                </a:solidFill>
                <a:latin typeface="Times New Roman" panose="02020603050405020304"/>
                <a:ea typeface="Times New Roman" panose="02020603050405020304"/>
                <a:cs typeface="Times New Roman" panose="02020603050405020304"/>
                <a:sym typeface="Times New Roman" panose="02020603050405020304"/>
              </a:rPr>
              <a:t>Prepare requirements.txt</a:t>
            </a: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 – List all necessary dependencies for the application.</a:t>
            </a:r>
            <a:b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b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r>
              <a:rPr lang="en-IN" sz="2200" b="1">
                <a:solidFill>
                  <a:srgbClr val="2F5496"/>
                </a:solidFill>
                <a:latin typeface="Times New Roman" panose="02020603050405020304"/>
                <a:ea typeface="Times New Roman" panose="02020603050405020304"/>
                <a:cs typeface="Times New Roman" panose="02020603050405020304"/>
                <a:sym typeface="Times New Roman" panose="02020603050405020304"/>
              </a:rPr>
              <a:t>Set up docker-compose.yml</a:t>
            </a: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 – Enable multi-service deployment and orchestration.</a:t>
            </a:r>
            <a:b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b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r>
              <a:rPr lang="en-IN" sz="2200" b="1">
                <a:solidFill>
                  <a:srgbClr val="2F5496"/>
                </a:solidFill>
                <a:latin typeface="Times New Roman" panose="02020603050405020304"/>
                <a:ea typeface="Times New Roman" panose="02020603050405020304"/>
                <a:cs typeface="Times New Roman" panose="02020603050405020304"/>
                <a:sym typeface="Times New Roman" panose="02020603050405020304"/>
              </a:rPr>
              <a:t>Add .dockerignore</a:t>
            </a: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 – Exclude unnecessary files to optimize the Docker build.</a:t>
            </a: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59" name="Google Shape;159;p11"/>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63" name="Shape 163"/>
        <p:cNvGrpSpPr/>
        <p:nvPr/>
      </p:nvGrpSpPr>
      <p:grpSpPr>
        <a:xfrm>
          <a:off x="0" y="0"/>
          <a:ext cx="0" cy="0"/>
          <a:chOff x="0" y="0"/>
          <a:chExt cx="0" cy="0"/>
        </a:xfrm>
      </p:grpSpPr>
      <p:sp>
        <p:nvSpPr>
          <p:cNvPr id="164" name="Google Shape;164;p13"/>
          <p:cNvSpPr txBox="1"/>
          <p:nvPr/>
        </p:nvSpPr>
        <p:spPr>
          <a:xfrm>
            <a:off x="887186" y="650107"/>
            <a:ext cx="10417500" cy="5669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2800" b="1">
                <a:solidFill>
                  <a:srgbClr val="2F5496"/>
                </a:solidFill>
                <a:latin typeface="Times New Roman" panose="02020603050405020304"/>
                <a:ea typeface="Times New Roman" panose="02020603050405020304"/>
                <a:cs typeface="Times New Roman" panose="02020603050405020304"/>
                <a:sym typeface="Times New Roman" panose="02020603050405020304"/>
              </a:rPr>
              <a:t>Conclusion</a:t>
            </a:r>
            <a:endParaRPr sz="28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IN" sz="2200">
                <a:solidFill>
                  <a:srgbClr val="2F5496"/>
                </a:solidFill>
                <a:latin typeface="Times New Roman" panose="02020603050405020304"/>
                <a:ea typeface="Times New Roman" panose="02020603050405020304"/>
                <a:cs typeface="Times New Roman" panose="02020603050405020304"/>
                <a:sym typeface="Times New Roman" panose="02020603050405020304"/>
              </a:rPr>
              <a:t>we built a Linear Regression model to predict hourly output of injection molding machines using operational parameters like temperature, pressure, cycle time, material properties, machine age, and operator experience. The project involved synthetic data generation, exploratory data analysis, feature engineering, and model training, followed by evaluation using metrics such as R², MSE, RMSE, and MAE. Insights from the model identified key factors affecting production and provided actionable recommendations for optimizing machine settings, maintenance, and operator training. The trained model was deployed via a FastAPI backend, containerized with Docker using a Dockerfile, requirements.txt, docker-compose.yml, and .dockerignore for seamless production-ready deployment. Overall, the project demonstrates an end-to-end data science workflow with practical industrial applications and measurable business impact.</a:t>
            </a: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1200"/>
              </a:spcBef>
              <a:spcAft>
                <a:spcPts val="0"/>
              </a:spcAft>
              <a:buNone/>
            </a:pPr>
            <a:endParaRPr sz="1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65" name="Google Shape;165;p13"/>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69" name="Shape 169"/>
        <p:cNvGrpSpPr/>
        <p:nvPr/>
      </p:nvGrpSpPr>
      <p:grpSpPr>
        <a:xfrm>
          <a:off x="0" y="0"/>
          <a:ext cx="0" cy="0"/>
          <a:chOff x="0" y="0"/>
          <a:chExt cx="0" cy="0"/>
        </a:xfrm>
      </p:grpSpPr>
      <p:sp>
        <p:nvSpPr>
          <p:cNvPr id="170" name="Google Shape;170;p14"/>
          <p:cNvSpPr txBox="1"/>
          <p:nvPr/>
        </p:nvSpPr>
        <p:spPr>
          <a:xfrm>
            <a:off x="903457" y="673906"/>
            <a:ext cx="10385100" cy="2493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IN" sz="8000">
                <a:solidFill>
                  <a:srgbClr val="2F5496"/>
                </a:solidFill>
                <a:latin typeface="Times New Roman" panose="02020603050405020304"/>
                <a:ea typeface="Times New Roman" panose="02020603050405020304"/>
                <a:cs typeface="Times New Roman" panose="02020603050405020304"/>
                <a:sym typeface="Times New Roman" panose="02020603050405020304"/>
              </a:rPr>
              <a:t>Any Queries ???</a:t>
            </a:r>
            <a:br>
              <a:rPr lang="en-IN" sz="8000">
                <a:solidFill>
                  <a:srgbClr val="2F5496"/>
                </a:solidFill>
                <a:latin typeface="Times New Roman" panose="02020603050405020304"/>
                <a:ea typeface="Times New Roman" panose="02020603050405020304"/>
                <a:cs typeface="Times New Roman" panose="02020603050405020304"/>
                <a:sym typeface="Times New Roman" panose="02020603050405020304"/>
              </a:rPr>
            </a:br>
            <a:endParaRPr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71" name="Google Shape;171;p14"/>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7220</Words>
  <Application>WPS Presentation</Application>
  <PresentationFormat/>
  <Paragraphs>160</Paragraphs>
  <Slides>14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Arial</vt:lpstr>
      <vt:lpstr>Calibri</vt:lpstr>
      <vt:lpstr>Anta</vt:lpstr>
      <vt:lpstr>Liberation Mono</vt:lpstr>
      <vt:lpstr>Times New Roman</vt:lpstr>
      <vt:lpstr>Microsoft YaHei</vt:lpstr>
      <vt:lpstr>Arial Unicode MS</vt:lpstr>
      <vt:lpstr>Office Theme</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_x000B_    Capstone Project 1  MANUFACTURING  EQUIPMENT  OUTPUT PREDICTION  WITH  LINEAR  REGRESSION </dc:title>
  <dc:creator>TNS INDIA FOUNDATION</dc:creator>
  <cp:lastModifiedBy>JANHAVI DHANAWADE</cp:lastModifiedBy>
  <cp:revision>1</cp:revision>
  <dcterms:created xsi:type="dcterms:W3CDTF">2026-08-12T04:46:07Z</dcterms:created>
  <dcterms:modified xsi:type="dcterms:W3CDTF">2026-08-12T04:46:07Z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C2DB20140C19487FA6732324296DD0A6_13</vt:lpwstr>
  </property>
  <property fmtid="{D5CDD505-2E9C-101B-9397-08002B2CF9AE}" pid="3" name="KSOProductBuildVer">
    <vt:lpwstr>1033-12.1.0.28032</vt:lpwstr>
  </property>
</Properties>
</file>